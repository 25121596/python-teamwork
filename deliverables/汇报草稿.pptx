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99bcf36dea43fe" /><Relationship Type="http://schemas.openxmlformats.org/officeDocument/2006/relationships/extended-properties" Target="/docProps/app.xml" Id="Re5f34b735542444c" /><Relationship Type="http://schemas.openxmlformats.org/officeDocument/2006/relationships/officeDocument" Target="/ppt/presentation.xml" Id="Rf9fc8ba82dd2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1b0cb42ff8426f"/>
  </p:sldMasterIdLst>
  <p:notesMasterIdLst>
    <p:notesMasterId xmlns:r="http://schemas.openxmlformats.org/officeDocument/2006/relationships" r:id="R0b85d105ba0c46c0"/>
  </p:notesMasterIdLst>
  <p:sldIdLst>
    <p:sldId xmlns:r="http://schemas.openxmlformats.org/officeDocument/2006/relationships" id="256" r:id="Ra99e00753419480f"/>
    <p:sldId xmlns:r="http://schemas.openxmlformats.org/officeDocument/2006/relationships" id="257" r:id="R8a757f8024d14730"/>
    <p:sldId xmlns:r="http://schemas.openxmlformats.org/officeDocument/2006/relationships" id="258" r:id="R5363af8ec5f44c70"/>
    <p:sldId xmlns:r="http://schemas.openxmlformats.org/officeDocument/2006/relationships" id="259" r:id="R0f2c988f95574730"/>
    <p:sldId xmlns:r="http://schemas.openxmlformats.org/officeDocument/2006/relationships" id="260" r:id="R963a98e250244680"/>
    <p:sldId xmlns:r="http://schemas.openxmlformats.org/officeDocument/2006/relationships" id="261" r:id="R33b224fd64484254"/>
    <p:sldId xmlns:r="http://schemas.openxmlformats.org/officeDocument/2006/relationships" id="262" r:id="Rcbd359e3cbb44711"/>
    <p:sldId xmlns:r="http://schemas.openxmlformats.org/officeDocument/2006/relationships" id="263" r:id="R5f068fb59c93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7106d02b6547fe" /><Relationship Type="http://schemas.openxmlformats.org/officeDocument/2006/relationships/slideMaster" Target="/ppt/slideMasters/slideMaster1.xml" Id="R101b0cb42ff8426f" /><Relationship Type="http://schemas.openxmlformats.org/officeDocument/2006/relationships/notesMaster" Target="/ppt/notesMasters/notesMaster1.xml" Id="R0b85d105ba0c46c0" /><Relationship Type="http://schemas.openxmlformats.org/officeDocument/2006/relationships/presProps" Target="/ppt/presProps.xml" Id="R6ed2ad49c0ce423c" /><Relationship Type="http://schemas.openxmlformats.org/officeDocument/2006/relationships/tableStyles" Target="/ppt/tableStyles.xml" Id="R832318e884234e8c" /><Relationship Type="http://schemas.openxmlformats.org/officeDocument/2006/relationships/slide" Target="/ppt/slides/slide1.xml" Id="Ra99e00753419480f" /><Relationship Type="http://schemas.openxmlformats.org/officeDocument/2006/relationships/slide" Target="/ppt/slides/slide2.xml" Id="R8a757f8024d14730" /><Relationship Type="http://schemas.openxmlformats.org/officeDocument/2006/relationships/slide" Target="/ppt/slides/slide3.xml" Id="R5363af8ec5f44c70" /><Relationship Type="http://schemas.openxmlformats.org/officeDocument/2006/relationships/slide" Target="/ppt/slides/slide4.xml" Id="R0f2c988f95574730" /><Relationship Type="http://schemas.openxmlformats.org/officeDocument/2006/relationships/slide" Target="/ppt/slides/slide5.xml" Id="R963a98e250244680" /><Relationship Type="http://schemas.openxmlformats.org/officeDocument/2006/relationships/slide" Target="/ppt/slides/slide6.xml" Id="R33b224fd64484254" /><Relationship Type="http://schemas.openxmlformats.org/officeDocument/2006/relationships/slide" Target="/ppt/slides/slide7.xml" Id="Rcbd359e3cbb44711" /><Relationship Type="http://schemas.openxmlformats.org/officeDocument/2006/relationships/slide" Target="/ppt/slides/slide8.xml" Id="R5f068fb59c93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5fce6521d6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313aa3c884cbe" /><Relationship Type="http://schemas.openxmlformats.org/officeDocument/2006/relationships/notesMaster" Target="/ppt/notesMasters/notesMaster1.xml" Id="Rfb91cf1ccf2f4b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d3ae3fa1744b2" /><Relationship Type="http://schemas.openxmlformats.org/officeDocument/2006/relationships/notesMaster" Target="/ppt/notesMasters/notesMaster1.xml" Id="Rd651ccf6a12847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09319a39e43f6" /><Relationship Type="http://schemas.openxmlformats.org/officeDocument/2006/relationships/notesMaster" Target="/ppt/notesMasters/notesMaster1.xml" Id="R6978ccc29a1c4d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edfa933414402" /><Relationship Type="http://schemas.openxmlformats.org/officeDocument/2006/relationships/notesMaster" Target="/ppt/notesMasters/notesMaster1.xml" Id="R19b96c4afc8949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2dcf29fcf5481c" /><Relationship Type="http://schemas.openxmlformats.org/officeDocument/2006/relationships/notesMaster" Target="/ppt/notesMasters/notesMaster1.xml" Id="Rb347ba46a4e544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914acad2ac42e3" /><Relationship Type="http://schemas.openxmlformats.org/officeDocument/2006/relationships/notesMaster" Target="/ppt/notesMasters/notesMaster1.xml" Id="R8a8e18595770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ef0b54812f4f59" /><Relationship Type="http://schemas.openxmlformats.org/officeDocument/2006/relationships/notesMaster" Target="/ppt/notesMasters/notesMaster1.xml" Id="Raac2a7115b56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aee535c3743f1" /><Relationship Type="http://schemas.openxmlformats.org/officeDocument/2006/relationships/notesMaster" Target="/ppt/notesMasters/notesMaster1.xml" Id="Ra959f81494f7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建议时段：0:00—0:25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的项目是中文垃圾邮件分类。目标是把原始邮件整理成可靠的文本特征，比较朴素贝叶斯和逻辑回归，同时关注误拦正常邮件和漏掉垃圾邮件的代价。本次材料展示已有的数据处理与验证实验；清洗对照和最终测试尚待真实数据恢复后执行，下面所有模型成绩都属于验证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来源：项目计划.md；artifacts/metrics/model_selection.json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建议时段：0:25—1:05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课程提供的 TREC06C 主索引有六万四千六百二十封邮件，其中垃圾邮件约占百分之六十六点三。我们只使用 full/index，delay/index 涉及相同邮件，不能拿来当独立测试集。清洗后全部邮件技术可用，按相同内容去重后剩三万三千九百八十八封代表。正常邮件保留约百分之九十八点四，垃圾邮件只保留百分之二十九点三，说明垃圾邮件的精确重复更多。去重后垃圾邮件占百分之三十七，因此这里评估的是不同文本代表，而不是实际收件箱的自然邮件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来源：artifacts/audit/eda_summary.json；artifacts/audit/index_summary.json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建议时段：1:05—1:35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邮件处理先解传输编码，再按字符集解码，并记录回退。MIME 多部分只选合适的正文，避免纯文本和 HTML 重复拼接，也跳过附件。HTML 去掉脚本和样式，保留可读文字，再归一化常见联系字段。最终约三万封常规解析成功，三万三千多封经过恢复，一千四百二十二封只有主题可用。这里的可用只是技术可读，不能证明语义完全正确，也不能把没有替换符当作没有乱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来源：docs/stages/03_邮件解析与全量清洗.md；artifacts/audit/cleaning_summary.json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建议时段：1:35—1:55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正文、原始字节或对照文本关联的邮件整组划分，防止同一内容同时出现在训练和测试中。调试解析器接触过的开发样本及其关联组固定到训练侧。训练约二万三千八百封，验证和测试各约五千一百封。训练学特征与模型，验证选方案，测试只用于最后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来源：artifacts/audit/split_summary.json；docs/stages/04_去重与冻结数据划分.md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建议时段：1:55—2:35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中文先用 jieba 精确分词，关闭 HMM，使用固定停用词。TF-IDF 同时考虑某个词在这封邮件里的出现情况，以及它在训练语料中是否过于常见；再把向量归一化。五万维词表和 IDF 只能在训练集拟合，验证和测试只能转换。朴素贝叶斯用词的类别分布判断邮件，逻辑回归联合学习词权重。我们给两者相同的样本和特征规则，各比较三个参数，并加入多数类作为最低参照。选参优先看 macro-F1，再看正常邮件误报率和垃圾邮件召回率。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来源：docs/分词与特征说明.md；src/spam_classifier/text_features.py；artifacts/metrics/model_selection.json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建议时段：2:35—3:40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这里是五千零九十九封验证邮件的真实历史结果。多数类准确率接近百分之六十三，但它把全部垃圾邮件都漏掉，所以不能只看准确率。朴素贝叶斯最佳 alpha 为零点一，macro-F1 约百分之九十五点六；逻辑回归最佳 C 为二，macro-F1 约百分之九十八点七八。右下的混淆计数显示，逻辑回归把十一封正常邮件误拦为垃圾邮件，漏掉四十七封垃圾邮件；对应正常邮件误报率约百分之零点三四。与朴素贝叶斯的一百二十六次误报相比，它更好地保护了正常邮件。这些结果支持把 LR C 等于二作为下一步候选，但参数是在验证集上选择的，不能把这组数当作最终测试成绩。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来源：artifacts/metrics/stage06_validation.csv；artifacts/audit/model_validation.json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建议时段：3:40—4:25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下一步清洗对照固定 LR C 等于二、相同训练验证样本及其他配置，只改变是否去除 HTML 标签。真实对照还没运行，因此暂时不能宣称去标签一定提升效果。最终方案锁定后才计算测试成绩，再分别检查误报和漏报。程序已能为 NB 和 LR 各选最多十五个误报和十五个漏报候选，但真实文本必须私下阅读，公开时只能用审核后的安全概述。另外，高频词只表示经常出现，LR 系数才反映模型里的分类关联；公开词图只覆盖预设通用词表，不能当成完整词表的排名。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来源：docs/stages/07_HTML清洗对照与方案锁定.md；docs/stages/08_最终测试与错误分析流程.md；artifacts/figures/stage05_training_word_coverage.png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建议时段：4:25—5:00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目前可以确认，编码和结构恢复需要质量记录，去重会明显改变类别构成，而 LR C 等于二在现有验证集上优于本轮 NB 候选。局限包括旧语料、可能残留的近重复模板，以及验证选参带来的乐观偏差。后续将恢复真实数据，完成清洗对照、最终测试和人工错分分析，再补齐成员实际分工与正式报告。代码、聚合证据和各阶段记录均由 Git 管理，仓库链接见屏幕。感谢大家。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来源：README.md；进度记录.md；docs/成员分工.md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事实范围：既有阶段六真实验证结果；阶段七、八实测尚未执行。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496ebe6d74d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a2e5cc46d4e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7eee1a3d440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2e76ef16a41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8e6b39bc44a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a8ebb9c87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EF8CD6-F2EC-4E40-8061-1E9ACD7C2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198C1D-CF19-456B-A119-62536404E5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FD8DDC-5428-4A69-97F5-8B790CA029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0934B9-1C7A-4815-A419-509AEF383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B4ED2D-C3D0-470A-B08C-A2D75EC11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A6994E-21CE-48EF-AE0F-65BB488B30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722ACA-77FC-4A44-811E-908FCD04F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B10B29-4067-4F7D-BBD7-140ECDD63D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6D9686-F42E-4AFA-9B54-744E05668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8F0EB-DE55-4B95-8D6D-E9EA51986E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8f9045ae58482a" /><Relationship Type="http://schemas.openxmlformats.org/officeDocument/2006/relationships/slideLayout" Target="/ppt/slideLayouts/slideLayout1.xml" Id="Rdd21faf0fef24cad" /><Relationship Type="http://schemas.openxmlformats.org/officeDocument/2006/relationships/slideLayout" Target="/ppt/slideLayouts/slideLayout2.xml" Id="R28fac4ed1ed24326" /><Relationship Type="http://schemas.openxmlformats.org/officeDocument/2006/relationships/slideLayout" Target="/ppt/slideLayouts/slideLayout3.xml" Id="R30e57f513f2b4838" /><Relationship Type="http://schemas.openxmlformats.org/officeDocument/2006/relationships/slideLayout" Target="/ppt/slideLayouts/slideLayout4.xml" Id="R2284b1db51bd422d" /><Relationship Type="http://schemas.openxmlformats.org/officeDocument/2006/relationships/slideLayout" Target="/ppt/slideLayouts/slideLayout5.xml" Id="Re670c5a220cd40d8" /><Relationship Type="http://schemas.openxmlformats.org/officeDocument/2006/relationships/slideLayout" Target="/ppt/slideLayouts/slideLayout6.xml" Id="Rd40901804a89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1faf0fef24cad"/>
    <p:sldLayoutId xmlns:r="http://schemas.openxmlformats.org/officeDocument/2006/relationships" id="2147483650" r:id="R28fac4ed1ed24326"/>
    <p:sldLayoutId xmlns:r="http://schemas.openxmlformats.org/officeDocument/2006/relationships" id="2147483651" r:id="R30e57f513f2b4838"/>
    <p:sldLayoutId xmlns:r="http://schemas.openxmlformats.org/officeDocument/2006/relationships" id="2147483652" r:id="R2284b1db51bd422d"/>
    <p:sldLayoutId xmlns:r="http://schemas.openxmlformats.org/officeDocument/2006/relationships" id="2147483653" r:id="Re670c5a220cd40d8"/>
    <p:sldLayoutId xmlns:r="http://schemas.openxmlformats.org/officeDocument/2006/relationships" id="2147483654" r:id="Rd40901804a89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a593d1b294cae" /><Relationship Type="http://schemas.openxmlformats.org/officeDocument/2006/relationships/notesSlide" Target="/ppt/notesSlides/notesSlide1.xml" Id="R72e1edb54cd143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8507c472b4e23" /><Relationship Type="http://schemas.openxmlformats.org/officeDocument/2006/relationships/chart" Target="/ppt/slides/charts/chart1.xml" Id="Rd73fe9428efe4e47" /><Relationship Type="http://schemas.openxmlformats.org/officeDocument/2006/relationships/notesSlide" Target="/ppt/notesSlides/notesSlide2.xml" Id="R5f087d8e70b3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777af2498474d" /><Relationship Type="http://schemas.openxmlformats.org/officeDocument/2006/relationships/notesSlide" Target="/ppt/notesSlides/notesSlide3.xml" Id="R66aeb9b4e7a04c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3238fce8d4b90" /><Relationship Type="http://schemas.openxmlformats.org/officeDocument/2006/relationships/notesSlide" Target="/ppt/notesSlides/notesSlide4.xml" Id="R2795063508084b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5245101924244" /><Relationship Type="http://schemas.openxmlformats.org/officeDocument/2006/relationships/notesSlide" Target="/ppt/notesSlides/notesSlide5.xml" Id="R6e5361dc78fc41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bcb91e3614ca1" /><Relationship Type="http://schemas.openxmlformats.org/officeDocument/2006/relationships/notesSlide" Target="/ppt/notesSlides/notesSlide6.xml" Id="Rffd5c866718040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48ac8365d4371" /><Relationship Type="http://schemas.openxmlformats.org/officeDocument/2006/relationships/notesSlide" Target="/ppt/notesSlides/notesSlide7.xml" Id="Rfd1d734c1b89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ceaf4e61043b6" /><Relationship Type="http://schemas.openxmlformats.org/officeDocument/2006/relationships/notesSlide" Target="/ppt/notesSlides/notesSlide8.xml" Id="R89b4647b66e64b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Noto Sans CJK SC"/>
                <a:ea typeface="Noto Sans CJK SC"/>
                <a:cs typeface="Noto Sans CJK SC"/>
              </a:rPr>
              <a:t>原始与去重代表数量（封）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正常邮件</c:v>
          </c:tx>
          <c:spPr>
            <a:solidFill xmlns:a="http://schemas.openxmlformats.org/drawingml/2006/main">
              <a:srgbClr val="187A8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原始语料</c:v>
                </c:pt>
                <c:pt idx="1">
                  <c:v>去重代表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21766</c:v>
                </c:pt>
                <c:pt idx="1">
                  <c:v>21411</c:v>
                </c:pt>
              </c:numCache>
            </c:numRef>
          </c:val>
        </c:ser>
        <c:ser>
          <c:idx val="1"/>
          <c:order val="1"/>
          <c:tx>
            <c:v>垃圾邮件</c:v>
          </c:tx>
          <c:spPr>
            <a:solidFill xmlns:a="http://schemas.openxmlformats.org/drawingml/2006/main">
              <a:srgbClr val="C56A32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原始语料</c:v>
                </c:pt>
                <c:pt idx="1">
                  <c:v>去重代表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42854</c:v>
                </c:pt>
                <c:pt idx="1">
                  <c:v>12577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100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2789613-B1CB-4C6F-A681-84880A21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90ECFA-1B7C-4E7B-9597-19610AF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8E819B-28C4-41BB-B563-E65CCA67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F127A9-BEB3-4368-97F7-585AD7F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中文垃圾邮件分类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0AC51A-A312-46AF-9B96-621E036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从原始邮件到可核验的模型比较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7F80D8-3E7B-4971-A890-354C0A5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·  jieba / TF-IDF  ·  Naive Bayes / Logistic Regression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D3DF4D4-6135-4E9E-AD15-8A43263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研究问题：如何同时减少误报与漏报？</a:t>
            </a:r>
          </a:p>
        </p:txBody>
      </p:sp>
    </p:spTree>
    <p:extLst>
      <p:ext uri="{BB962C8B-B14F-4D97-AF65-F5344CB8AC3E}">
        <p14:creationId xmlns:p14="http://schemas.microsoft.com/office/powerpoint/2010/main" val="2021932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6717D69-6809-49DC-96F9-66E8734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98F150B-D50C-4C8C-BB96-E27099E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去重改变了语料的类别构成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559415-9F0F-4E8B-94FC-C07C635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CBC8C9-FF0F-4BEC-BD8A-F223590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5579A4-AA02-4AD3-8A86-315B420388E3}"/>
              </a:ext>
            </a:extLst>
          </p:cNvPr>
          <p:cNvGraphicFramePr/>
          <p:nvPr/>
        </p:nvGraphicFramePr>
        <p:xfrm>
          <a:off xmlns:a="http://schemas.openxmlformats.org/drawingml/2006/main" x="457200" y="1914525"/>
          <a:ext xmlns:a="http://schemas.openxmlformats.org/drawingml/2006/main" cx="7715250" cy="3876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3fe9428efe4e47"/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4FA831A-73A1-4A91-85B1-4667248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764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64,620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180DCBE-138E-4603-9A97-06E3473A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289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原始邮件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2C653E9-9CF3-4897-A6C7-95BFAF2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004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33,988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FFB7800-2D9D-41EF-BFFA-0BD98B3A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不同规范化文本代表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D13A4FC-7D94-4069-818B-31BAEB46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spam 占比：66.32% → 37.00%</a:t>
            </a:r>
          </a:p>
        </p:txBody>
      </p:sp>
    </p:spTree>
    <p:extLst>
      <p:ext uri="{BB962C8B-B14F-4D97-AF65-F5344CB8AC3E}">
        <p14:creationId xmlns:p14="http://schemas.microsoft.com/office/powerpoint/2010/main" val="1192686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35C20EA8-9291-45B2-8387-F1BA386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810550-770C-4A0F-A36D-538CF018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解析与清洗保留完整质量记录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3A8706-970E-477C-9045-04836F6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09B016-25A6-489F-A6C7-64A8A1B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8EB7A4B-67EE-48F0-A9F8-DC19050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先解传输编码，再解字符编码；MIME 避免重复拼接。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EE801-D89B-4F90-A36A-C61FF12CC2BE}"/>
              </a:ext>
            </a:extLst>
          </p:cNvPr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095500"/>
                <a:gridCol w="5924550"/>
              </a:tblGrid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解析状态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邮件数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ok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29,891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常规处理可用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recovered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33,307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回退或结构恢复后可用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subject_only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1,422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仅保留有效主题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1DD3B01-49C1-4582-A870-4026E6AA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HTML 去脚本与标签，保留可读正文；常见联系字段归一化。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26071FC-76AE-4FD6-887C-B549E0C7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技术可用 ≠ 语义完全正确</a:t>
            </a:r>
          </a:p>
        </p:txBody>
      </p:sp>
    </p:spTree>
    <p:extLst>
      <p:ext uri="{BB962C8B-B14F-4D97-AF65-F5344CB8AC3E}">
        <p14:creationId xmlns:p14="http://schemas.microsoft.com/office/powerpoint/2010/main" val="264695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1701344-0AD7-4E18-9D47-2F9F54D5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88CA49-2490-4EEC-B1AD-379AAEF1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按内容分组冻结训练、验证与测试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B026B6-1735-4D8E-A2F5-955B2F3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E5FDC3-56C3-48DE-99BC-B99C6F5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DA7CF-5514-4ADB-AAE6-151B3F853C63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2667000"/>
                <a:gridCol w="2667000"/>
                <a:gridCol w="2667000"/>
              </a:tblGrid>
              <a:tr h="666750"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集合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正常邮件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垃圾邮件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14,988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8,804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23,792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3,212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1,887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5,099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3,211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1,886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10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5,097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5F414C-F2C2-453E-A69B-AC511DC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相同内容整组划分，开发样本关联组只进入训练侧。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DF39DFF-CB39-4743-92D8-EEB8A1D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训练学特征与模型  ·  验证选方案  ·  测试作最终评估</a:t>
            </a:r>
          </a:p>
        </p:txBody>
      </p:sp>
    </p:spTree>
    <p:extLst>
      <p:ext uri="{BB962C8B-B14F-4D97-AF65-F5344CB8AC3E}">
        <p14:creationId xmlns:p14="http://schemas.microsoft.com/office/powerpoint/2010/main" val="452043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4FCDA4A-0D6F-40B9-BFBB-E807B02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60707A-5251-411D-9E08-F7D4BE1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训练侧 TF-IDF 与两种分类模型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774A59-71AC-4B6C-BBAC-E501551E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43F48B-22EE-41D1-A130-3F245094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B85DE5F-0EE8-4550-90E3-ED4890D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词表与 IDF 只在训练集学习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9B801DB-144B-4D19-B5F0-2B2E6246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jieba 精确分词，HMM=False；固定停用词。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50,000 维稀疏 TF-IDF；min_df=2；L2 归一化。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验证与测试只转换，不参与拟合。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C7E8C-69FC-47D3-88DB-753E7F4A3906}"/>
              </a:ext>
            </a:extLst>
          </p:cNvPr>
          <p:cNvGraphicFramePr/>
          <p:nvPr/>
        </p:nvGraphicFramePr>
        <p:xfrm>
          <a:off xmlns:a="http://schemas.openxmlformats.org/drawingml/2006/main" x="609600" y="400050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作用 / 参数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提供最低参照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MultinomialNB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alpha = 0.1 / 0.5 / 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LogisticRegression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 = 0.5 / 1 / 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747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C64D0C6-9099-42C7-9FE4-0D5F937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B835D93-A218-48DC-9C54-5AD7AFF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LR C=2 在现有验证集上表现最好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679CCF-A7EF-4B0F-9A35-8638F68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C44B21-A9B1-42DB-8935-1C869F3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77CFB-6DA0-4A63-BE4D-AA90F3ABF116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047875"/>
                <a:gridCol w="2047875"/>
                <a:gridCol w="2057400"/>
                <a:gridCol w="2057400"/>
              </a:tblGrid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验证模型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macro-F1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正常误报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垃圾漏报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62.99%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38.65%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1887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NB α=0.1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95.88%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95.60%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 C=2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98.86%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98.78%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266C331-C436-4331-AF5E-FB26BC1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LR 验证混淆矩阵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BA97-6D57-433B-BA90-87CC423D3315}"/>
              </a:ext>
            </a:extLst>
          </p:cNvPr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5095875" cy="1228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476375"/>
                <a:gridCol w="1476375"/>
              </a:tblGrid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 / 预测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3,201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1,840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A1F76047-F449-4CAE-A8CD-80349BAB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38650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0.34%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89DFFB5A-4EB4-41DD-A6FF-5D536C5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38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LR 正常邮件误报率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2E2F5D4-EBD1-4554-A2A0-D95ED8A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753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验证 n = 5,099；最终测试尚未运行</a:t>
            </a:r>
          </a:p>
        </p:txBody>
      </p:sp>
    </p:spTree>
    <p:extLst>
      <p:ext uri="{BB962C8B-B14F-4D97-AF65-F5344CB8AC3E}">
        <p14:creationId xmlns:p14="http://schemas.microsoft.com/office/powerpoint/2010/main" val="2087169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F492528-5AFD-4D25-823F-FC2D18F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D2CD2D-5863-4096-848B-A56611B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清洗效果与错因需要独立证据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18FA7E-ABD0-4869-9BF8-F951D6C5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EC983E-692D-48A5-8E87-C56B2F4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B71CB-423B-441E-AC6A-3681DE21B9FE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733425"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要回答的问题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预定验证方式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7334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HTML 清洗是否有效？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 LR C=2，只改变 HTML 处理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7334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为何误报或漏报？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各类最多 15 个候选，私下逐例复核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哪些词与分类有关？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区分训练词覆盖率与 LR 系数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71D426-A3CA-4820-BD93-6162AA3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真实对照与最终测试尚待执行，当前没有对应实测结论。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0FEA945-AE97-4F5C-9483-EE1A567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高频不等于有判别力；公开图仅展示预设通用词表。</a:t>
            </a:r>
          </a:p>
        </p:txBody>
      </p:sp>
    </p:spTree>
    <p:extLst>
      <p:ext uri="{BB962C8B-B14F-4D97-AF65-F5344CB8AC3E}">
        <p14:creationId xmlns:p14="http://schemas.microsoft.com/office/powerpoint/2010/main" val="210397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D9F057E-B851-450B-9748-2FEE9375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714FE9-FB96-40D0-992E-84DB27D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结论、局限与复现入口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C15FE6-B1D6-40CB-AF1D-55624468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阶段汇报草稿 · 当前成绩均为验证集结果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A880F2-1198-45D9-9505-7F1C1883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440964B-8154-4C97-8E18-1DF15A1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已有证据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865F3AF-964E-4169-9862-20FBF4D9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质量恢复需记录；去重改变类别比例。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LR C=2 在本轮验证集上优于 NB 候选。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B6D0316-AEEA-443B-A631-BC7CC29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适用范围与下一步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DA1270F-F384-4AA4-8C2D-4291FAC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旧语料与近重复仍有限制。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恢复真实输入，完成对照、测试与人工错分复核。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BDEAA43-16D2-4EB2-860E-B8C0AD6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github.com/25121596/Python-teamwork</a:t>
            </a:r>
          </a:p>
        </p:txBody>
      </p:sp>
    </p:spTree>
    <p:extLst>
      <p:ext uri="{BB962C8B-B14F-4D97-AF65-F5344CB8AC3E}">
        <p14:creationId xmlns:p14="http://schemas.microsoft.com/office/powerpoint/2010/main" val="1828806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2026-10-21T16:50:11.9560000Z</dcterms:created>
  <dcterms:modified xsi:type="dcterms:W3CDTF">2026-10-21T16:50:11.9560000Z</dcterms:modified>
</coreProperties>
</file>