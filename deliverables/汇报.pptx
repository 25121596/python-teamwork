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77b56eeb5c40fb" /><Relationship Type="http://schemas.openxmlformats.org/officeDocument/2006/relationships/extended-properties" Target="/docProps/app.xml" Id="Rf6bc22eb99654dbd" /><Relationship Type="http://schemas.openxmlformats.org/officeDocument/2006/relationships/officeDocument" Target="/ppt/presentation.xml" Id="Rd879517aee3943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db1be3267a420e"/>
  </p:sldMasterIdLst>
  <p:notesMasterIdLst>
    <p:notesMasterId xmlns:r="http://schemas.openxmlformats.org/officeDocument/2006/relationships" r:id="Rba261af3fc2f4255"/>
  </p:notesMasterIdLst>
  <p:sldIdLst>
    <p:sldId xmlns:r="http://schemas.openxmlformats.org/officeDocument/2006/relationships" id="256" r:id="R7e60b58a4beb4cfb"/>
    <p:sldId xmlns:r="http://schemas.openxmlformats.org/officeDocument/2006/relationships" id="257" r:id="Rd0097feca9a8410f"/>
    <p:sldId xmlns:r="http://schemas.openxmlformats.org/officeDocument/2006/relationships" id="258" r:id="Race07d708827414c"/>
    <p:sldId xmlns:r="http://schemas.openxmlformats.org/officeDocument/2006/relationships" id="259" r:id="R9f3663649e8d4003"/>
    <p:sldId xmlns:r="http://schemas.openxmlformats.org/officeDocument/2006/relationships" id="260" r:id="R62b83419e8b84620"/>
    <p:sldId xmlns:r="http://schemas.openxmlformats.org/officeDocument/2006/relationships" id="261" r:id="Rff9e3e854abb40a8"/>
    <p:sldId xmlns:r="http://schemas.openxmlformats.org/officeDocument/2006/relationships" id="262" r:id="Reb80cfa7fb8745be"/>
    <p:sldId xmlns:r="http://schemas.openxmlformats.org/officeDocument/2006/relationships" id="263" r:id="Rf7ac05db95f142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744b711e5d4782" /><Relationship Type="http://schemas.openxmlformats.org/officeDocument/2006/relationships/slideMaster" Target="/ppt/slideMasters/slideMaster1.xml" Id="Re6db1be3267a420e" /><Relationship Type="http://schemas.openxmlformats.org/officeDocument/2006/relationships/notesMaster" Target="/ppt/notesMasters/notesMaster1.xml" Id="Rba261af3fc2f4255" /><Relationship Type="http://schemas.openxmlformats.org/officeDocument/2006/relationships/presProps" Target="/ppt/presProps.xml" Id="Rf856416b0dc74cad" /><Relationship Type="http://schemas.openxmlformats.org/officeDocument/2006/relationships/tableStyles" Target="/ppt/tableStyles.xml" Id="R795e0195b20942c3" /><Relationship Type="http://schemas.openxmlformats.org/officeDocument/2006/relationships/slide" Target="/ppt/slides/slide1.xml" Id="R7e60b58a4beb4cfb" /><Relationship Type="http://schemas.openxmlformats.org/officeDocument/2006/relationships/slide" Target="/ppt/slides/slide2.xml" Id="Rd0097feca9a8410f" /><Relationship Type="http://schemas.openxmlformats.org/officeDocument/2006/relationships/slide" Target="/ppt/slides/slide3.xml" Id="Race07d708827414c" /><Relationship Type="http://schemas.openxmlformats.org/officeDocument/2006/relationships/slide" Target="/ppt/slides/slide4.xml" Id="R9f3663649e8d4003" /><Relationship Type="http://schemas.openxmlformats.org/officeDocument/2006/relationships/slide" Target="/ppt/slides/slide5.xml" Id="R62b83419e8b84620" /><Relationship Type="http://schemas.openxmlformats.org/officeDocument/2006/relationships/slide" Target="/ppt/slides/slide6.xml" Id="Rff9e3e854abb40a8" /><Relationship Type="http://schemas.openxmlformats.org/officeDocument/2006/relationships/slide" Target="/ppt/slides/slide7.xml" Id="Reb80cfa7fb8745be" /><Relationship Type="http://schemas.openxmlformats.org/officeDocument/2006/relationships/slide" Target="/ppt/slides/slide8.xml" Id="Rf7ac05db95f142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6249ca330941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cf1d3162564cdf" /><Relationship Type="http://schemas.openxmlformats.org/officeDocument/2006/relationships/notesMaster" Target="/ppt/notesMasters/notesMaster1.xml" Id="Raf3c7c5b4e8446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5cd8c64aaa4bec" /><Relationship Type="http://schemas.openxmlformats.org/officeDocument/2006/relationships/notesMaster" Target="/ppt/notesMasters/notesMaster1.xml" Id="R2aa08257c7144e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d564b3a0af4cde" /><Relationship Type="http://schemas.openxmlformats.org/officeDocument/2006/relationships/notesMaster" Target="/ppt/notesMasters/notesMaster1.xml" Id="R8573abdc11a944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bc207aecd141f9" /><Relationship Type="http://schemas.openxmlformats.org/officeDocument/2006/relationships/notesMaster" Target="/ppt/notesMasters/notesMaster1.xml" Id="Rc9b7dc6a6b5842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3bf3a489374e2b" /><Relationship Type="http://schemas.openxmlformats.org/officeDocument/2006/relationships/notesMaster" Target="/ppt/notesMasters/notesMaster1.xml" Id="R3b11834d238c4b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07da96f2ea446a" /><Relationship Type="http://schemas.openxmlformats.org/officeDocument/2006/relationships/notesMaster" Target="/ppt/notesMasters/notesMaster1.xml" Id="R77b1a272fff949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b3baab1ac34778" /><Relationship Type="http://schemas.openxmlformats.org/officeDocument/2006/relationships/notesMaster" Target="/ppt/notesMasters/notesMaster1.xml" Id="Rdc490a27a80b49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82f69266ce4c8c" /><Relationship Type="http://schemas.openxmlformats.org/officeDocument/2006/relationships/notesMaster" Target="/ppt/notesMasters/notesMaster1.xml" Id="R778a2d5a0b3043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建议时段：0:00—0:20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家好，我们的项目是中文垃圾邮件分类。我们从原始邮件解析开始，比较朴素贝叶斯和逻辑回归，重点关注误拦正常邮件和漏掉垃圾邮件。锁定方案后的测试结果表明，逻辑回归准确率为99.22%，但仍存在错误。下面说明数据、实验过程和这些数字的适用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来源：artifacts/metrics/final_evaluation.json</a:t>
            </a:r>
          </a:p>
          <a:p xmlns:a="http://schemas.openxmlformats.org/drawingml/2006/main">
            <a:r>
              <a:t>仓库：https://github.com/25121596/Python-teamwork</a:t>
            </a:r>
          </a:p>
          <a:p xmlns:a="http://schemas.openxmlformats.org/drawingml/2006/main">
            <a:r>
              <a:t>事实范围：真实验证、清洗对照与锁定后的最终测试；AI 辅助错分观察待成员确认。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建议时段：0:20—0:55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语料共有六万四千六百二十封邮件，垃圾邮件约占百分之六十六点三。主索引和延迟索引涉及相同邮件，因此只使用主索引。清洗后全部邮件技术可用，按规范化文本精确去重后剩三万三千九百八十八封代表。正常邮件保留约百分之九十八点四，垃圾邮件只保留百分之二十九点三，说明垃圾邮件的重复更多。去重后垃圾邮件占百分之三十七，所以最终成绩描述不同文本代表，不能直接代表自然收件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来源：artifacts/audit/eda_summary.json</a:t>
            </a:r>
          </a:p>
          <a:p xmlns:a="http://schemas.openxmlformats.org/drawingml/2006/main">
            <a:r>
              <a:t>仓库：https://github.com/25121596/Python-teamwork</a:t>
            </a:r>
          </a:p>
          <a:p xmlns:a="http://schemas.openxmlformats.org/drawingml/2006/main">
            <a:r>
              <a:t>事实范围：真实验证、清洗对照与锁定后的最终测试；AI 辅助错分观察待成员确认。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建议时段：0:55—1:35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解析先解传输编码，再按字符集解码并记录回退。MIME 多部分只选有效正文，避免纯文本和 HTML 重复拼接。HTML 去脚本和标签，保留文字，常见联系字段再归一化。约三万封常规可读，三万三千多封需要恢复，一千四百二十二封只有主题可用。技术可用不证明语义完全正确。相同正文或对照文本关联的样本整组划分，开发样本及关联组只进入训练。训练约二万三千八百封，验证和测试各约五千一百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来源：artifacts/audit/cleaning_summary.json；artifacts/audit/split_summary.json</a:t>
            </a:r>
          </a:p>
          <a:p xmlns:a="http://schemas.openxmlformats.org/drawingml/2006/main">
            <a:r>
              <a:t>仓库：https://github.com/25121596/Python-teamwork</a:t>
            </a:r>
          </a:p>
          <a:p xmlns:a="http://schemas.openxmlformats.org/drawingml/2006/main">
            <a:r>
              <a:t>事实范围：真实验证、清洗对照与锁定后的最终测试；AI 辅助错分观察待成员确认。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建议时段：1:35—2:15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中文使用 jieba 精确分词和固定停用词。TF-IDF 兼顾词在本封邮件中是否突出，以及在训练语料中是否过于普遍。五万维词表和 IDF 只从训练集学习，验证与测试只能转换。朴素贝叶斯用类别词分布分类，逻辑回归联合学习词权重。两者各比较三个参数，按验证 macro-F1、误报率和召回率选择。NB 最佳 alpha 为零点一，LR 最佳 C 为二。多数类准确率接近百分之六十三，却漏掉全部垃圾邮件，说明准确率不能单独使用。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来源：artifacts/metrics/model_selection.json；artifacts/audit/feature_summary.json</a:t>
            </a:r>
          </a:p>
          <a:p xmlns:a="http://schemas.openxmlformats.org/drawingml/2006/main">
            <a:r>
              <a:t>仓库：https://github.com/25121596/Python-teamwork</a:t>
            </a:r>
          </a:p>
          <a:p xmlns:a="http://schemas.openxmlformats.org/drawingml/2006/main">
            <a:r>
              <a:t>事实范围：真实验证、清洗对照与锁定后的最终测试；AI 辅助错分观察待成员确认。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建议时段：2:15—2:45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清洗对照固定 LR C 等于二、相同训练验证样本与其他配置，只改变是否去掉 HTML 标签。两臂分别只在训练集学习 TF-IDF，去标签臂还必须重现上一步预测。去标签的验证 macro-F1 为98.78%，保留 HTML 为98.75%。按预先规则选取去标签可读文本，把模型、参数和文件指纹锁定后，再打开最终测试。实际改变的训练和验证输入仅一百五十六封和三十六封，净少漏报一封，不能宣称普遍或显著提升。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来源：artifacts/metrics/cleaning_ablation.json；artifacts/metrics/final_lock.json</a:t>
            </a:r>
          </a:p>
          <a:p xmlns:a="http://schemas.openxmlformats.org/drawingml/2006/main">
            <a:r>
              <a:t>仓库：https://github.com/25121596/Python-teamwork</a:t>
            </a:r>
          </a:p>
          <a:p xmlns:a="http://schemas.openxmlformats.org/drawingml/2006/main">
            <a:r>
              <a:t>事实范围：真实验证、清洗对照与锁定后的最终测试；AI 辅助错分观察待成员确认。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建议时段：2:45—3:45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这里是五千零九十七封最终测试邮件，含三千二百一十一封正常邮件和一千八百八十六封垃圾邮件。LR 准确率为99.22%，macro-F1 为99.16%，垃圾邮件精确率为99.41%，召回率为98.46%。NB 误拦134封正常邮件，漏掉61封垃圾邮件；LR 分别为11和29封。混淆矩阵的行是真实标签，列是预测。LR 正常邮件误报率为0.34%。独立重算指标和重载模型预测均通过核验。测试结果没有被用于改参数或重新选择方案。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来源：artifacts/metrics/stage08_test.csv；artifacts/audit/final_evaluation_validation.json</a:t>
            </a:r>
          </a:p>
          <a:p xmlns:a="http://schemas.openxmlformats.org/drawingml/2006/main">
            <a:r>
              <a:t>仓库：https://github.com/25121596/Python-teamwork</a:t>
            </a:r>
          </a:p>
          <a:p xmlns:a="http://schemas.openxmlformats.org/drawingml/2006/main">
            <a:r>
              <a:t>事实范围：真实验证、清洗对照与锁定后的最终测试；AI 辅助错分观察待成员确认。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建议时段：3:45—4:30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我们为 NB 和 LR 各按分数绝对值选择最多十五个误报和十五个漏报，共56个模型错误实例。已经完成 AI 辅助语义核查，长邮件检查首中尾选段，仍需成员人工确认。屏幕上展示脱敏后的语义观察，正文和联系方式不公开。这是高置信度错误样本，不能用类别数量估算全部错误的比例。高频词表示经常出现，LR 系数表示模型中的分类关联，两者不同。公开词图只覆盖预设通用词表，权重也不代表因果。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来源：docs/真实错分分析.md；artifacts/metrics/error_analysis.json</a:t>
            </a:r>
          </a:p>
          <a:p xmlns:a="http://schemas.openxmlformats.org/drawingml/2006/main">
            <a:r>
              <a:t>仓库：https://github.com/25121596/Python-teamwork</a:t>
            </a:r>
          </a:p>
          <a:p xmlns:a="http://schemas.openxmlformats.org/drawingml/2006/main">
            <a:r>
              <a:t>事实范围：真实验证、清洗对照与锁定后的最终测试；AI 辅助错分观察待成员确认。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建议时段：4:30—5:00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在本语料和冻结划分下，LR C 等于二的最终表现优于本轮 NB 基线，但仍误拦11封正常邮件。因此更适合先进入可恢复垃圾箱或复核队列。局限包括旧语料、可能残留的近重复和编码问题，以及去重后类别比例变化。未来改进需要新验证方案和新测试集。本项目按真实阶段保留 Git 提交，成员分工需要与本人实际工作相符。感谢大家。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来源：artifacts/metrics/final_evaluation.json；README.md；docs/成员分工.md</a:t>
            </a:r>
          </a:p>
          <a:p xmlns:a="http://schemas.openxmlformats.org/drawingml/2006/main">
            <a:r>
              <a:t>仓库：https://github.com/25121596/Python-teamwork</a:t>
            </a:r>
          </a:p>
          <a:p xmlns:a="http://schemas.openxmlformats.org/drawingml/2006/main">
            <a:r>
              <a:t>事实范围：真实验证、清洗对照与锁定后的最终测试；AI 辅助错分观察待成员确认。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2d309a957d44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d6c9d6b5304bc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7789530a93411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288f9b26444b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c5ff119b1b452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7d2db8bab04b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5B8207-A502-443F-9ACF-89B75844AF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F517853-43E6-4E13-A666-9AE043A617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0AD4538-A44E-4A3F-B7F0-ECF95BA86B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6362CC-2DE9-4C15-BB6C-A119864A95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B7FC927-FA41-4838-9F10-5E0EB2B0F8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AA5D8DF-05A2-411C-8BC1-262D3E582A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FFF1F6-366C-494B-8014-892A65F06F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681D793-7C1E-4B33-BCA8-0860D30725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24DCD6-C13D-43FD-B8D4-8AC623F7DE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835DF4-DEE8-447D-A54D-47737A6CFE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bf757bdb8a4c23" /><Relationship Type="http://schemas.openxmlformats.org/officeDocument/2006/relationships/slideLayout" Target="/ppt/slideLayouts/slideLayout1.xml" Id="Ra89dc6ff1ab94c22" /><Relationship Type="http://schemas.openxmlformats.org/officeDocument/2006/relationships/slideLayout" Target="/ppt/slideLayouts/slideLayout2.xml" Id="Rdafce2dd68fd4249" /><Relationship Type="http://schemas.openxmlformats.org/officeDocument/2006/relationships/slideLayout" Target="/ppt/slideLayouts/slideLayout3.xml" Id="Ra39a7be10073421a" /><Relationship Type="http://schemas.openxmlformats.org/officeDocument/2006/relationships/slideLayout" Target="/ppt/slideLayouts/slideLayout4.xml" Id="Rcacdee19a5aa45cf" /><Relationship Type="http://schemas.openxmlformats.org/officeDocument/2006/relationships/slideLayout" Target="/ppt/slideLayouts/slideLayout5.xml" Id="R6a4e603fef1e4c65" /><Relationship Type="http://schemas.openxmlformats.org/officeDocument/2006/relationships/slideLayout" Target="/ppt/slideLayouts/slideLayout6.xml" Id="R6d8e691aa1c543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9dc6ff1ab94c22"/>
    <p:sldLayoutId xmlns:r="http://schemas.openxmlformats.org/officeDocument/2006/relationships" id="2147483650" r:id="Rdafce2dd68fd4249"/>
    <p:sldLayoutId xmlns:r="http://schemas.openxmlformats.org/officeDocument/2006/relationships" id="2147483651" r:id="Ra39a7be10073421a"/>
    <p:sldLayoutId xmlns:r="http://schemas.openxmlformats.org/officeDocument/2006/relationships" id="2147483652" r:id="Rcacdee19a5aa45cf"/>
    <p:sldLayoutId xmlns:r="http://schemas.openxmlformats.org/officeDocument/2006/relationships" id="2147483653" r:id="R6a4e603fef1e4c65"/>
    <p:sldLayoutId xmlns:r="http://schemas.openxmlformats.org/officeDocument/2006/relationships" id="2147483654" r:id="R6d8e691aa1c543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d5aad35ef444eb" /><Relationship Type="http://schemas.openxmlformats.org/officeDocument/2006/relationships/notesSlide" Target="/ppt/notesSlides/notesSlide1.xml" Id="R0b16a039d59349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c44d5c8f2049aa" /><Relationship Type="http://schemas.openxmlformats.org/officeDocument/2006/relationships/chart" Target="/ppt/slides/charts/chart1.xml" Id="R4211f70614054d8d" /><Relationship Type="http://schemas.openxmlformats.org/officeDocument/2006/relationships/notesSlide" Target="/ppt/notesSlides/notesSlide2.xml" Id="Rfddfb75f554442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85f6b2409c4fae" /><Relationship Type="http://schemas.openxmlformats.org/officeDocument/2006/relationships/notesSlide" Target="/ppt/notesSlides/notesSlide3.xml" Id="R4c13e83263d146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fa0f426f4b497a" /><Relationship Type="http://schemas.openxmlformats.org/officeDocument/2006/relationships/notesSlide" Target="/ppt/notesSlides/notesSlide4.xml" Id="Rceda38297c6c44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cbb6a6012d423d" /><Relationship Type="http://schemas.openxmlformats.org/officeDocument/2006/relationships/notesSlide" Target="/ppt/notesSlides/notesSlide5.xml" Id="R376bdebcb28747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f1e3a807cd49c2" /><Relationship Type="http://schemas.openxmlformats.org/officeDocument/2006/relationships/notesSlide" Target="/ppt/notesSlides/notesSlide6.xml" Id="Rda4b4796b89248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465bbd82b04e2d" /><Relationship Type="http://schemas.openxmlformats.org/officeDocument/2006/relationships/notesSlide" Target="/ppt/notesSlides/notesSlide7.xml" Id="R58863dd2ac6840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531f8877a944aa" /><Relationship Type="http://schemas.openxmlformats.org/officeDocument/2006/relationships/notesSlide" Target="/ppt/notesSlides/notesSlide8.xml" Id="Reed72402c1d64f8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latin typeface="Noto Sans CJK SC"/>
                <a:ea typeface="Noto Sans CJK SC"/>
                <a:cs typeface="Noto Sans CJK SC"/>
              </a:rPr>
              <a:t>原始与去重代表数量（封）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latin typeface="Noto Sans CJK SC"/>
              <a:ea typeface="Noto Sans CJK SC"/>
              <a:cs typeface="Noto Sans CJK SC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正常邮件</c:v>
          </c:tx>
          <c:spPr>
            <a:solidFill xmlns:a="http://schemas.openxmlformats.org/drawingml/2006/main">
              <a:srgbClr val="187A87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原始语料</c:v>
                </c:pt>
                <c:pt idx="1">
                  <c:v>去重代表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21766</c:v>
                </c:pt>
                <c:pt idx="1">
                  <c:v>21411</c:v>
                </c:pt>
              </c:numCache>
            </c:numRef>
          </c:val>
        </c:ser>
        <c:ser>
          <c:idx val="1"/>
          <c:order val="1"/>
          <c:tx>
            <c:v>垃圾邮件</c:v>
          </c:tx>
          <c:spPr>
            <a:solidFill xmlns:a="http://schemas.openxmlformats.org/drawingml/2006/main">
              <a:srgbClr val="C56A32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原始语料</c:v>
                </c:pt>
                <c:pt idx="1">
                  <c:v>去重代表</c:v>
                </c:pt>
              </c:strCache>
            </c:strRef>
          </c:cat>
          <c:val>
            <c:numRef>
              <c:f>'Chart Data'!$D$2:$D$3</c:f>
              <c:numCache>
                <c:formatCode>#,##0</c:formatCode>
                <c:ptCount val="2"/>
                <c:pt idx="0">
                  <c:v>42854</c:v>
                </c:pt>
                <c:pt idx="1">
                  <c:v>12577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</c:catAx>
      <c:valAx>
        <c:axId val="48672768"/>
        <c:scaling>
          <c:orientation val="minMax"/>
          <c:max val="5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8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1000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Noto Sans CJK SC"/>
              <a:ea typeface="Noto Sans CJK SC"/>
              <a:cs typeface="Noto Sans CJK SC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86E017A6-88B8-439D-84C4-6B3C1EC8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PYTHON 数据分析编程  /  第六题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E3090F1-E915-4D2B-A850-DCE41D1E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TREC06C  实验结果与误差分析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695C17C-6A63-4394-ABD3-BC4A4932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627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01 / 08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AB0CC4C-BC29-4712-9E33-AB964DAF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48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48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48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48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48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48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48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48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48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8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8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中文垃圾邮件分类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B4B5940-A934-4254-95B7-939D8B42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rPr>
              <a:t>原始邮件解析与模型比较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C39C792-A6E6-46A3-91FF-0C1AF8C2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147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TREC06C  ·  jieba / TF-IDF  ·  Naive Bayes / Logistic Regression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36A799B-24AA-4DF6-B7EE-691A6F82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研究问题：如何同时减少误报与漏报？</a:t>
            </a:r>
          </a:p>
        </p:txBody>
      </p:sp>
    </p:spTree>
    <p:extLst>
      <p:ext uri="{BB962C8B-B14F-4D97-AF65-F5344CB8AC3E}">
        <p14:creationId xmlns:p14="http://schemas.microsoft.com/office/powerpoint/2010/main" val="9423657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427F68B1-2FD1-40DE-9B98-B1AB4908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PYTHON 数据分析编程  /  第六题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1A3A458-2FBF-4D67-A15A-DDC957E4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去重改变了语料的类别构成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13A4D07-50F8-422E-91E2-C086393B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TREC06C  实验结果与误差分析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B3BC647-EBA4-4744-B666-41B33EA9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627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02 / 08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E928832-7A0E-4651-8660-262299EE7284}"/>
              </a:ext>
            </a:extLst>
          </p:cNvPr>
          <p:cNvGraphicFramePr/>
          <p:nvPr/>
        </p:nvGraphicFramePr>
        <p:xfrm>
          <a:off xmlns:a="http://schemas.openxmlformats.org/drawingml/2006/main" x="457200" y="1914525"/>
          <a:ext xmlns:a="http://schemas.openxmlformats.org/drawingml/2006/main" cx="7715250" cy="3876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11f70614054d8d"/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4CA64FA-E936-4F10-9AE1-684B0E87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76450"/>
            <a:ext cx="285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42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42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42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42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42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42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42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42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42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2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64,620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FC668EC4-FCD5-4434-9F53-4BB6F5E5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289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原始邮件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6D6807F7-A97C-47EB-B12A-99DCA30E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600450"/>
            <a:ext cx="2857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42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42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42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42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42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42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42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42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42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2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rPr>
              <a:t>33,988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655DF879-B3F2-4742-898D-69D7EB6A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624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不同规范化文本代表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6683105F-71D1-4CF5-B670-C7C89BC9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spam 占比：66.32% → 37.00%</a:t>
            </a:r>
          </a:p>
        </p:txBody>
      </p:sp>
    </p:spTree>
    <p:extLst>
      <p:ext uri="{BB962C8B-B14F-4D97-AF65-F5344CB8AC3E}">
        <p14:creationId xmlns:p14="http://schemas.microsoft.com/office/powerpoint/2010/main" val="19774792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4AFEFCBE-0161-443A-B228-1E15A1A1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PYTHON 数据分析编程  /  第六题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D439C9A-7A2F-4106-BFDC-B3F46EC0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解析质量与数据划分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B0FBCBC-6F47-4E81-AA50-3FD98455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TREC06C  实验结果与误差分析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39F8CDA-9052-4D96-99A3-61A201F6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627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03 / 08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B273DFA-12C9-4C0B-892A-D3253D36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先解传输编码，再解字符编码；MIME 避免重复拼接。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8EF13-6D7A-4081-9E9D-4C0DDE208A89}"/>
              </a:ext>
            </a:extLst>
          </p:cNvPr>
          <p:cNvGraphicFramePr/>
          <p:nvPr/>
        </p:nvGraphicFramePr>
        <p:xfrm>
          <a:off xmlns:a="http://schemas.openxmlformats.org/drawingml/2006/main" x="609600" y="2524125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095500"/>
                <a:gridCol w="5924550"/>
              </a:tblGrid>
              <a:tr h="619125">
                <a:tc>
                  <a:txBody>
                    <a:bodyPr anchor="ctr"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解析状态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邮件数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含义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</a:tr>
              <a:tr h="619125"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ok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29,891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常规处理可用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  <a:tr h="619125"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recovered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33,307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回退或结构恢复后可用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subject_only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1,422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仅保留有效主题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</a:tbl>
          </a:graphicData>
        </a:graphic>
      </p:graphicFrame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2F9DC0F9-0C61-4B39-8FB3-167FC396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rPr>
              <a:t>训练 23,792  /  验证 5,099  /  最终测试 5,097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60C4C22-E949-413A-8D9E-5FE5568C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相同内容整组划分，开发样本关联组只进入训练侧。</a:t>
            </a:r>
          </a:p>
        </p:txBody>
      </p:sp>
    </p:spTree>
    <p:extLst>
      <p:ext uri="{BB962C8B-B14F-4D97-AF65-F5344CB8AC3E}">
        <p14:creationId xmlns:p14="http://schemas.microsoft.com/office/powerpoint/2010/main" val="11448583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9681830C-7C5B-42D7-91B5-8BFA2F30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PYTHON 数据分析编程  /  第六题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CCF5F12-D106-4B10-8DD9-90D35DD0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训练特征与验证模型比较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56C0288-1EA9-486E-96C3-C4657C13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TREC06C  实验结果与误差分析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7B00CA3-418F-4E3E-93C3-5AD576C6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627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04 / 08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6ECAA2E-E16D-4F8C-8FCF-20417048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rPr>
              <a:t>jieba 分词，训练侧 50,000 维 TF-IDF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76608FF-8475-4993-BD11-076EB1E0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验证与测试只转换；相同训练样本与特征规则。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CC5B4-3EE2-40B3-AA5B-A2F62C50E34E}"/>
              </a:ext>
            </a:extLst>
          </p:cNvPr>
          <p:cNvGraphicFramePr/>
          <p:nvPr/>
        </p:nvGraphicFramePr>
        <p:xfrm>
          <a:off xmlns:a="http://schemas.openxmlformats.org/drawingml/2006/main" x="609600" y="3190875"/>
          <a:ext xmlns:a="http://schemas.openxmlformats.org/drawingml/2006/main" cx="10972800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514600"/>
                <a:gridCol w="2514600"/>
                <a:gridCol w="2514600"/>
              </a:tblGrid>
              <a:tr h="600075">
                <a:tc>
                  <a:txBody>
                    <a:bodyPr anchor="ctr"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验证模型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准确率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macro-F1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正常误报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</a:tr>
              <a:tr h="600075"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多数类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62.99%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38.65%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  <a:tr h="600075"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NB α=0.1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95.88%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95.60%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126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LR C=2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98.86%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98.78%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11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</a:tbl>
          </a:graphicData>
        </a:graphic>
      </p:graphicFrame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3AAA3F39-C079-4123-B50F-1A10398E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验证 n = 5,099；选参先看 macro-F1，再看误报率。</a:t>
            </a:r>
          </a:p>
        </p:txBody>
      </p:sp>
    </p:spTree>
    <p:extLst>
      <p:ext uri="{BB962C8B-B14F-4D97-AF65-F5344CB8AC3E}">
        <p14:creationId xmlns:p14="http://schemas.microsoft.com/office/powerpoint/2010/main" val="12070865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DCE64F00-E3B8-4F5F-B77E-15A1920F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PYTHON 数据分析编程  /  第六题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732483C-C528-4E03-A3FE-EAA9824C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固定条件下的 HTML 清洗对照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74A0DD8-E26F-46E7-9DBA-1BFFA510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TREC06C  实验结果与误差分析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643111B-734A-4B4E-BCC7-94095499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627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05 / 08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AC034C8-3991-4264-B263-20A751AA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rPr>
              <a:t>只改变 HTML 表示，固定 LR C=2 和训练验证 ID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D54D1-DF92-44A8-B4B1-F46D4FAA10DC}"/>
              </a:ext>
            </a:extLst>
          </p:cNvPr>
          <p:cNvGraphicFramePr/>
          <p:nvPr/>
        </p:nvGraphicFramePr>
        <p:xfrm>
          <a:off xmlns:a="http://schemas.openxmlformats.org/drawingml/2006/main" x="609600" y="2752725"/>
          <a:ext xmlns:a="http://schemas.openxmlformats.org/drawingml/2006/main" cx="10972800" cy="2085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514600"/>
                <a:gridCol w="2514600"/>
                <a:gridCol w="2514600"/>
              </a:tblGrid>
              <a:tr h="695325">
                <a:tc>
                  <a:txBody>
                    <a:bodyPr anchor="ctr"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输入表示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验证准确率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验证 macro-F1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误报率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</a:tr>
              <a:tr h="695325"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去标签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98.86%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98.78%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0.34%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  <a:tr h="695325"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保留 HTML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98.84%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98.75%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20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0.34%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98DE1CB7-806A-47CD-8C41-82E50A72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rPr>
              <a:t>最终锁定：去标签可读文本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6ADBB664-9D76-4007-AC8D-5BC1E192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独立重训核验通过；锁定之后才计算最终测试成绩。</a:t>
            </a:r>
          </a:p>
        </p:txBody>
      </p:sp>
    </p:spTree>
    <p:extLst>
      <p:ext uri="{BB962C8B-B14F-4D97-AF65-F5344CB8AC3E}">
        <p14:creationId xmlns:p14="http://schemas.microsoft.com/office/powerpoint/2010/main" val="5322391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C2879797-B7F1-4484-99BB-3D720D4F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PYTHON 数据分析编程  /  第六题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5ECD465-EC5C-4385-ABD4-8D82D029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锁定方案后的最终测试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A4C80C4-CF79-4EA3-BF66-D6822957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TREC06C  实验结果与误差分析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F3C7B40-707D-4766-A34B-A8329EE9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627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06 / 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05A7E-8929-417C-82A5-23B5CAF5E448}"/>
              </a:ext>
            </a:extLst>
          </p:cNvPr>
          <p:cNvGraphicFramePr/>
          <p:nvPr/>
        </p:nvGraphicFramePr>
        <p:xfrm>
          <a:off xmlns:a="http://schemas.openxmlformats.org/drawingml/2006/main" x="609600" y="1819275"/>
          <a:ext xmlns:a="http://schemas.openxmlformats.org/drawingml/2006/main" cx="10972800" cy="2247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2047875"/>
                <a:gridCol w="2047875"/>
                <a:gridCol w="2057400"/>
                <a:gridCol w="2057400"/>
              </a:tblGrid>
              <a:tr h="561975">
                <a:tc>
                  <a:txBody>
                    <a:bodyPr anchor="ctr"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测试模型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准确率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macro-F1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正常误报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垃圾漏报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</a:tr>
              <a:tr h="561975"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多数类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63.00%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38.65%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1886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  <a:tr h="561975"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NB α=0.1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96.17%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95.93%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134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61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LR C=2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99.22%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99.16%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11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29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425FC4DE-D738-49DC-BD4C-F2164C3F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rPr>
              <a:t>LR 测试混淆矩阵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40421B-BC5A-4CDF-B9F4-FEF1540E80FA}"/>
              </a:ext>
            </a:extLst>
          </p:cNvPr>
          <p:cNvGraphicFramePr/>
          <p:nvPr/>
        </p:nvGraphicFramePr>
        <p:xfrm>
          <a:off xmlns:a="http://schemas.openxmlformats.org/drawingml/2006/main" x="609600" y="4810125"/>
          <a:ext xmlns:a="http://schemas.openxmlformats.org/drawingml/2006/main" cx="5095875" cy="1228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1476375"/>
                <a:gridCol w="1476375"/>
              </a:tblGrid>
              <a:tr h="409575">
                <a:tc>
                  <a:txBody>
                    <a:bodyPr anchor="ctr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真实 / 预测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正常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垃圾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</a:tr>
              <a:tr h="409575">
                <a:tc>
                  <a:txBody>
                    <a:bodyPr anchor="ctr"/>
                    <a:lstStyle/>
                    <a:p>
                      <a:pPr algn="ctr"/>
                      <a:r>
                        <a:rPr sz="17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正常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3200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11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  <a:tr h="409575">
                <a:tc>
                  <a:txBody>
                    <a:bodyPr anchor="ctr"/>
                    <a:lstStyle/>
                    <a:p>
                      <a:pPr algn="ctr"/>
                      <a:r>
                        <a:rPr sz="17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垃圾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29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725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1857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5">
            <a:extLst xmlns:a="http://schemas.openxmlformats.org/drawingml/2006/main">
              <a:ext uri="{FF2B5EF4-FFF2-40B4-BE49-F238E27FC236}">
                <a16:creationId xmlns:a16="http://schemas.microsoft.com/office/drawing/2014/main" id="{39AF5B2D-9C29-4837-84BE-E59629FF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438650"/>
            <a:ext cx="4286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8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8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8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8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8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8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8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8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8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8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82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rPr>
              <a:t>0.34%</a:t>
            </a:r>
          </a:p>
        </p:txBody>
      </p:sp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F6B8363F-2B46-410F-A397-2DD08F04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387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LR 正常邮件误报率</a:t>
            </a:r>
          </a:p>
        </p:txBody>
      </p:sp>
      <p:sp>
        <p:nvSpPr>
          <p:cNvPr id="10" name="text-7">
            <a:extLst xmlns:a="http://schemas.openxmlformats.org/drawingml/2006/main">
              <a:ext uri="{FF2B5EF4-FFF2-40B4-BE49-F238E27FC236}">
                <a16:creationId xmlns:a16="http://schemas.microsoft.com/office/drawing/2014/main" id="{DFE724A2-FFC6-49D0-B926-5D420D5D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7531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最终测试 n = 5,097；没有重新选参</a:t>
            </a:r>
          </a:p>
        </p:txBody>
      </p:sp>
    </p:spTree>
    <p:extLst>
      <p:ext uri="{BB962C8B-B14F-4D97-AF65-F5344CB8AC3E}">
        <p14:creationId xmlns:p14="http://schemas.microsoft.com/office/powerpoint/2010/main" val="17253743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A694F4D1-E15E-426B-B718-25951F66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PYTHON 数据分析编程  /  第六题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047C4B8-36EC-48D4-A06E-1CBA32A2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真实错分与关键词解释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1AAB859-4ADB-4ACD-BB99-335FC9FA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TREC06C  实验结果与误差分析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A1B4DF1-FF57-4793-ACD4-CA0C05E2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627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07 / 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C2412-EF5E-494C-9EC8-57374A660807}"/>
              </a:ext>
            </a:extLst>
          </p:cNvPr>
          <p:cNvGraphicFramePr/>
          <p:nvPr/>
        </p:nvGraphicFramePr>
        <p:xfrm>
          <a:off xmlns:a="http://schemas.openxmlformats.org/drawingml/2006/main" x="609600" y="1866900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8496300"/>
              </a:tblGrid>
              <a:tr h="609600">
                <a:tc>
                  <a:txBody>
                    <a:bodyPr anchor="ctr"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真实实例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语义观察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T w="9525">
                      <a:solidFill>
                        <a:srgbClr val="D9E2E7"/>
                      </a:solidFill>
                      <a:prstDash val="solid"/>
                    </a:lnT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18364A"/>
                    </a:solidFill>
                  </a:tcPr>
                </a:tc>
              </a:tr>
              <a:tr h="609600"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LR-FP-01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招聘通知与商业推广词重叠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  <a:tr h="609600"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LR-FN-10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学车推广主题搭配小说片段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LR-FN-06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只有邀约主题，缺少正文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EFF4F6"/>
                    </a:solidFill>
                  </a:tcPr>
                </a:tc>
              </a:tr>
              <a:tr h="609600"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NB-FN-09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9E2E7"/>
                      </a:solidFill>
                      <a:prstDash val="solid"/>
                    </a:lnL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950" b="0">
                          <a:solidFill>
                            <a:srgbClr val="1836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私人请假聊天中嵌入消费推广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9E2E7"/>
                      </a:solidFill>
                      <a:prstDash val="solid"/>
                    </a:lnR>
                    <a:lnB w="9525">
                      <a:solidFill>
                        <a:srgbClr val="D9E2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0E6E24D9-9555-49B1-BFDA-4E0BEBA7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rPr>
              <a:t>共 56 个实例完成 AI 辅助阅读，待成员人工确认。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9BC9191C-95AE-4561-9D06-8FAF8A8B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置信度排序样本不能代表全部错误；词频与模型系数含义不同。</a:t>
            </a:r>
          </a:p>
        </p:txBody>
      </p:sp>
    </p:spTree>
    <p:extLst>
      <p:ext uri="{BB962C8B-B14F-4D97-AF65-F5344CB8AC3E}">
        <p14:creationId xmlns:p14="http://schemas.microsoft.com/office/powerpoint/2010/main" val="12988242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A120FBE5-94ED-4147-B89C-ECF89FE6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PYTHON 数据分析编程  /  第六题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D49C7E9-9106-4430-AFE3-EAEA09F2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1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结论与适用范围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10A2AA2-7C65-4EFF-94A6-6A298C0E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TREC06C  实验结果与误差分析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FF68EF1-5D2F-4A83-86FA-A5A57F27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627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08 / 08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360E737-70F9-485D-9DAE-DD39945A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097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rPr>
              <a:t>实验结论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B97AF7B-84EC-42FF-BEC9-4696E735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LR C=2 测试 macro-F1 99.16%。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仍有 11 封正常邮件被误拦，建议可恢复垃圾箱或复核。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4CFBDBE-DA29-4E57-9D0B-C6A2C703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187A87"/>
                </a:solidFill>
                <a:latin typeface="Noto Sans CJK SC"/>
                <a:ea typeface="Noto Sans CJK SC"/>
                <a:cs typeface="Noto Sans CJK SC"/>
              </a:rPr>
              <a:t>适用范围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6BC31F8-E504-4EBF-BC7E-35B54824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9728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历史语料、去重后的文本代表，不能直接外推实际邮件流。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8364A"/>
                </a:solidFill>
                <a:latin typeface="Noto Sans CJK SC"/>
                <a:ea typeface="Noto Sans CJK SC"/>
                <a:cs typeface="Noto Sans CJK SC"/>
              </a:rPr>
              <a:t>未来改模型或阈值，需要新验证方案与未见测试集。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F079C2DD-9B99-48FF-B787-AB012DA6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26372"/>
                </a:solidFill>
                <a:latin typeface="Noto Sans CJK SC"/>
                <a:ea typeface="Noto Sans CJK SC"/>
                <a:cs typeface="Noto Sans CJK SC"/>
              </a:rPr>
              <a:t>github.com/25121596/Python-teamwork</a:t>
            </a:r>
          </a:p>
        </p:txBody>
      </p:sp>
    </p:spTree>
    <p:extLst>
      <p:ext uri="{BB962C8B-B14F-4D97-AF65-F5344CB8AC3E}">
        <p14:creationId xmlns:p14="http://schemas.microsoft.com/office/powerpoint/2010/main" val="5206708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2026-10-22T07:30:30.1030000Z</dcterms:created>
  <dcterms:modified xsi:type="dcterms:W3CDTF">2026-10-22T07:30:30.1030000Z</dcterms:modified>
</coreProperties>
</file>