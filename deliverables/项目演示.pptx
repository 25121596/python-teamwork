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altLang="zh-CN">
                <a:solidFill>
                  <a:srgbClr val="526372"/>
                </a:solidFill>
                <a:latin typeface="Microsoft YaHei"/>
              </a:rPr>
              <a:t>PYTHON 数据分析编程  /  第六题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altLang="zh-CN">
                <a:solidFill>
                  <a:srgbClr val="18364A"/>
                </a:solidFill>
                <a:latin typeface="Microsoft YaHei"/>
              </a:rPr>
              <a:t>中文垃圾邮件分类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25603"/>
          </a:xfrm>
          <a:prstGeom prst="rect">
            <a:avLst/>
          </a:prstGeom>
          <a:solidFill>
            <a:srgbClr val="18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236208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11155680" cy="658368"/>
          </a:xfrm>
          <a:prstGeom prst="roundRect">
            <a:avLst>
              <a:gd name="adj" fmla="val 3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3677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altLang="zh-CN">
                <a:solidFill>
                  <a:srgbClr val="187A87"/>
                </a:solidFill>
                <a:latin typeface="Microsoft YaHei"/>
              </a:rPr>
              <a:t>从原始邮件解析到可解释的分类结果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600" b="1">
                <a:solidFill>
                  <a:srgbClr val="187A87"/>
                </a:solidFill>
                <a:latin typeface="Microsoft YaHei"/>
              </a:rPr>
              <a:t>▪ 语料  </a:t>
            </a:r>
            <a:r>
              <a:rPr sz="1600">
                <a:solidFill>
                  <a:srgbClr val="18364A"/>
                </a:solidFill>
                <a:latin typeface="Microsoft YaHei"/>
              </a:rPr>
              <a:t>TREC 2006 中文邮件，64,620 封 → 去重后 33,988 封代表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600" b="1">
                <a:solidFill>
                  <a:srgbClr val="187A87"/>
                </a:solidFill>
                <a:latin typeface="Microsoft YaHei"/>
              </a:rPr>
              <a:t>▪ 方法  </a:t>
            </a:r>
            <a:r>
              <a:rPr sz="1600">
                <a:solidFill>
                  <a:srgbClr val="18364A"/>
                </a:solidFill>
                <a:latin typeface="Microsoft YaHei"/>
              </a:rPr>
              <a:t>MIME 解析 + 编码恢复 + HTML 清洗 → jieba 分词 + 训练侧 TF-IDF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600" b="1">
                <a:solidFill>
                  <a:srgbClr val="187A87"/>
                </a:solidFill>
                <a:latin typeface="Microsoft YaHei"/>
              </a:rPr>
              <a:t>▪ 模型  </a:t>
            </a:r>
            <a:r>
              <a:rPr sz="1600">
                <a:solidFill>
                  <a:srgbClr val="18364A"/>
                </a:solidFill>
                <a:latin typeface="Microsoft YaHei"/>
              </a:rPr>
              <a:t>多数类基线 / 朴素贝叶斯 / 逻辑回归，同一样本公平比较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600" b="1">
                <a:solidFill>
                  <a:srgbClr val="187A87"/>
                </a:solidFill>
                <a:latin typeface="Microsoft YaHei"/>
              </a:rPr>
              <a:t>▪ 结果  </a:t>
            </a:r>
            <a:r>
              <a:rPr sz="1600">
                <a:solidFill>
                  <a:srgbClr val="18364A"/>
                </a:solidFill>
                <a:latin typeface="Microsoft YaHei"/>
              </a:rPr>
              <a:t>冻结测试集 LR 准确率 99.22%，macro-F1 99.16%，误报 11 封、漏报 29 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11155680" cy="1051560"/>
          </a:xfrm>
          <a:prstGeom prst="roundRect">
            <a:avLst>
              <a:gd name="adj" fmla="val 3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19472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altLang="zh-CN">
                <a:solidFill>
                  <a:srgbClr val="187A87"/>
                </a:solidFill>
                <a:latin typeface="Microsoft YaHei"/>
              </a:rPr>
              <a:t>本次汇报的演示方式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3036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altLang="zh-CN">
                <a:solidFill>
                  <a:srgbClr val="18364A"/>
                </a:solidFill>
                <a:latin typeface="Microsoft YaHei"/>
              </a:rPr>
              <a:t>每个关键环节都穿插真实代码片段与实际运行结果，所有数字直接读取仓库 artifacts/ 下的聚合产物。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altLang="zh-CN">
                <a:solidFill>
                  <a:srgbClr val="526372"/>
                </a:solidFill>
                <a:latin typeface="Microsoft YaHei"/>
              </a:rPr>
              <a:t>总体设计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altLang="zh-CN">
                <a:solidFill>
                  <a:srgbClr val="18364A"/>
                </a:solidFill>
                <a:latin typeface="Microsoft YaHei"/>
              </a:rPr>
              <a:t>十步流程与防泄漏约束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25603"/>
          </a:xfrm>
          <a:prstGeom prst="rect">
            <a:avLst/>
          </a:prstGeom>
          <a:solidFill>
            <a:srgbClr val="18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236208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1517904" cy="932688"/>
          </a:xfrm>
          <a:prstGeom prst="roundRect">
            <a:avLst>
              <a:gd name="adj" fmla="val 3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63624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altLang="zh-CN">
                <a:solidFill>
                  <a:srgbClr val="C56A32"/>
                </a:solidFill>
                <a:latin typeface="Microsoft YaHe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altLang="zh-CN">
                <a:solidFill>
                  <a:srgbClr val="18364A"/>
                </a:solidFill>
                <a:latin typeface="Microsoft YaHei"/>
              </a:rPr>
              <a:t>索引审计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30552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altLang="zh-CN">
                <a:solidFill>
                  <a:srgbClr val="526372"/>
                </a:solidFill>
                <a:latin typeface="Microsoft YaHei"/>
              </a:rPr>
              <a:t>只读 full/index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481328"/>
            <a:ext cx="1517904" cy="932688"/>
          </a:xfrm>
          <a:prstGeom prst="roundRect">
            <a:avLst>
              <a:gd name="adj" fmla="val 3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1563624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altLang="zh-CN">
                <a:solidFill>
                  <a:srgbClr val="C56A32"/>
                </a:solidFill>
                <a:latin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1874519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altLang="zh-CN">
                <a:solidFill>
                  <a:srgbClr val="18364A"/>
                </a:solidFill>
                <a:latin typeface="Microsoft YaHei"/>
              </a:rPr>
              <a:t>解析清洗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130552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altLang="zh-CN">
                <a:solidFill>
                  <a:srgbClr val="526372"/>
                </a:solidFill>
                <a:latin typeface="Microsoft YaHei"/>
              </a:rPr>
              <a:t>MIME→编码→HTML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1481328"/>
            <a:ext cx="1517904" cy="932688"/>
          </a:xfrm>
          <a:prstGeom prst="roundRect">
            <a:avLst>
              <a:gd name="adj" fmla="val 3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3048" y="1563624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altLang="zh-CN">
                <a:solidFill>
                  <a:srgbClr val="C56A32"/>
                </a:solidFill>
                <a:latin typeface="Microsoft YaHei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1874519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altLang="zh-CN">
                <a:solidFill>
                  <a:srgbClr val="18364A"/>
                </a:solidFill>
                <a:latin typeface="Microsoft YaHei"/>
              </a:rPr>
              <a:t>去重划分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2130552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altLang="zh-CN">
                <a:solidFill>
                  <a:srgbClr val="526372"/>
                </a:solidFill>
                <a:latin typeface="Microsoft YaHei"/>
              </a:rPr>
              <a:t>整组不跨集合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1481328"/>
            <a:ext cx="1517904" cy="932688"/>
          </a:xfrm>
          <a:prstGeom prst="roundRect">
            <a:avLst>
              <a:gd name="adj" fmla="val 3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3248" y="1563624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altLang="zh-CN">
                <a:solidFill>
                  <a:srgbClr val="C56A32"/>
                </a:solidFill>
                <a:latin typeface="Microsoft YaHei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1874519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altLang="zh-CN">
                <a:solidFill>
                  <a:srgbClr val="18364A"/>
                </a:solidFill>
                <a:latin typeface="Microsoft YaHei"/>
              </a:rPr>
              <a:t>EDA/特征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2130552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altLang="zh-CN">
                <a:solidFill>
                  <a:srgbClr val="526372"/>
                </a:solidFill>
                <a:latin typeface="Microsoft YaHei"/>
              </a:rPr>
              <a:t>仅训练侧拟合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1481328"/>
            <a:ext cx="1517904" cy="932688"/>
          </a:xfrm>
          <a:prstGeom prst="roundRect">
            <a:avLst>
              <a:gd name="adj" fmla="val 3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1563624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altLang="zh-CN">
                <a:solidFill>
                  <a:srgbClr val="C56A32"/>
                </a:solidFill>
                <a:latin typeface="Microsoft YaHei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1874519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altLang="zh-CN">
                <a:solidFill>
                  <a:srgbClr val="18364A"/>
                </a:solidFill>
                <a:latin typeface="Microsoft YaHei"/>
              </a:rPr>
              <a:t>模型比较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2130552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altLang="zh-CN">
                <a:solidFill>
                  <a:srgbClr val="526372"/>
                </a:solidFill>
                <a:latin typeface="Microsoft YaHei"/>
              </a:rPr>
              <a:t>验证集选参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1481328"/>
            <a:ext cx="1517904" cy="932688"/>
          </a:xfrm>
          <a:prstGeom prst="roundRect">
            <a:avLst>
              <a:gd name="adj" fmla="val 3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13648" y="1563624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altLang="zh-CN">
                <a:solidFill>
                  <a:srgbClr val="C56A32"/>
                </a:solidFill>
                <a:latin typeface="Microsoft YaHei"/>
              </a:rPr>
              <a:t>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8" y="1874519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altLang="zh-CN">
                <a:solidFill>
                  <a:srgbClr val="18364A"/>
                </a:solidFill>
                <a:latin typeface="Microsoft YaHei"/>
              </a:rPr>
              <a:t>HTML 对照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2130552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altLang="zh-CN">
                <a:solidFill>
                  <a:srgbClr val="526372"/>
                </a:solidFill>
                <a:latin typeface="Microsoft YaHei"/>
              </a:rPr>
              <a:t>锁定方案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1481328"/>
            <a:ext cx="1517904" cy="932688"/>
          </a:xfrm>
          <a:prstGeom prst="roundRect">
            <a:avLst>
              <a:gd name="adj" fmla="val 3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13848" y="1563624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altLang="zh-CN">
                <a:solidFill>
                  <a:srgbClr val="C56A32"/>
                </a:solidFill>
                <a:latin typeface="Microsoft YaHei"/>
              </a:rPr>
              <a:t>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3848" y="1874519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altLang="zh-CN">
                <a:solidFill>
                  <a:srgbClr val="18364A"/>
                </a:solidFill>
                <a:latin typeface="Microsoft YaHei"/>
              </a:rPr>
              <a:t>最终测试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13848" y="2130552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altLang="zh-CN">
                <a:solidFill>
                  <a:srgbClr val="526372"/>
                </a:solidFill>
                <a:latin typeface="Microsoft YaHei"/>
              </a:rPr>
              <a:t>锁后才读取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2697480"/>
            <a:ext cx="5577840" cy="146304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2816352"/>
            <a:ext cx="5175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C9E8"/>
                </a:solidFill>
                <a:latin typeface="Consolas"/>
              </a:rPr>
              <a:t>src/spam_classifier/data_split.py — 并查集合并同内容邮件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" y="3118104"/>
            <a:ext cx="5175503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    def union(first, second):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        a, b = sorted((find(first), find(second)))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        parent[b] = a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743200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187A87"/>
                </a:solidFill>
                <a:latin typeface="Microsoft YaHei"/>
              </a:rPr>
              <a:t>▪ 四层防泄漏  </a:t>
            </a:r>
            <a:r>
              <a:rPr sz="1350">
                <a:solidFill>
                  <a:srgbClr val="18364A"/>
                </a:solidFill>
                <a:latin typeface="Microsoft YaHei"/>
              </a:rPr>
              <a:t>内容分组整组划分 / 开发样本强制训练侧 / 词表只在训练集拟合 / 指纹链 + 不可变模型锁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187A87"/>
                </a:solidFill>
                <a:latin typeface="Microsoft YaHei"/>
              </a:rPr>
              <a:t>▪ 为什么重要  </a:t>
            </a:r>
            <a:r>
              <a:rPr sz="1350">
                <a:solidFill>
                  <a:srgbClr val="18364A"/>
                </a:solidFill>
                <a:latin typeface="Microsoft YaHei"/>
              </a:rPr>
              <a:t>课程明确要求 TF-IDF 只在训练集拟合、相同内容不跨集合；不做到会高估成绩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434840"/>
            <a:ext cx="11155680" cy="1371600"/>
          </a:xfrm>
          <a:prstGeom prst="roundRect">
            <a:avLst>
              <a:gd name="adj" fmla="val 3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590288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altLang="zh-CN">
                <a:solidFill>
                  <a:srgbClr val="187A87"/>
                </a:solidFill>
                <a:latin typeface="Microsoft YaHei"/>
              </a:rPr>
              <a:t>指纹链：任何一环被改动，下游立即拒绝加载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956048"/>
            <a:ext cx="10698480" cy="73152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5120640"/>
            <a:ext cx="10296144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        or cleaning["cache_sha256"] != summary["input_provenance"]["cleaning_cache_sha256"]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        or cleaning["cache_sha256"] != frozen["input_provenance"]["cleaning_cache_sha256"]):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    raise ValueError("Parser or cleaning provenance changed.")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altLang="zh-CN">
                <a:solidFill>
                  <a:srgbClr val="526372"/>
                </a:solidFill>
                <a:latin typeface="Microsoft YaHei"/>
              </a:rPr>
              <a:t>第 2—4 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altLang="zh-CN">
                <a:solidFill>
                  <a:srgbClr val="18364A"/>
                </a:solidFill>
                <a:latin typeface="Microsoft YaHei"/>
              </a:rPr>
              <a:t>索引审计与语料规模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25603"/>
          </a:xfrm>
          <a:prstGeom prst="rect">
            <a:avLst/>
          </a:prstGeom>
          <a:solidFill>
            <a:srgbClr val="18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236208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81328"/>
          <a:ext cx="11155676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236"/>
                <a:gridCol w="1818860"/>
                <a:gridCol w="1818860"/>
                <a:gridCol w="1818860"/>
                <a:gridCol w="18188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范围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正常 ham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垃圾 spam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spam 占比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主索引 full/index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21,766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42,854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64,620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66.32%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技术可用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21,766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42,854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64,620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66.32%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8364A"/>
                          </a:solidFill>
                          <a:latin typeface="Microsoft YaHei"/>
                        </a:rPr>
                        <a:t>去重后代表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8364A"/>
                          </a:solidFill>
                          <a:latin typeface="Microsoft YaHei"/>
                        </a:rPr>
                        <a:t>21,411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8364A"/>
                          </a:solidFill>
                          <a:latin typeface="Microsoft YaHei"/>
                        </a:rPr>
                        <a:t>12,577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8364A"/>
                          </a:solidFill>
                          <a:latin typeface="Microsoft YaHei"/>
                        </a:rPr>
                        <a:t>33,988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8364A"/>
                          </a:solidFill>
                          <a:latin typeface="Microsoft YaHei"/>
                        </a:rPr>
                        <a:t>37.00%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017520"/>
            <a:ext cx="5760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187A87"/>
                </a:solidFill>
                <a:latin typeface="Microsoft YaHei"/>
              </a:rPr>
              <a:t>▪ 唯一入口  </a:t>
            </a:r>
            <a:r>
              <a:rPr sz="1350">
                <a:solidFill>
                  <a:srgbClr val="18364A"/>
                </a:solidFill>
                <a:latin typeface="Microsoft YaHei"/>
              </a:rPr>
              <a:t>只使用 full/index；delay/index 与它指向同一批邮件，不能当新增样本或独立测试集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187A87"/>
                </a:solidFill>
                <a:latin typeface="Microsoft YaHei"/>
              </a:rPr>
              <a:t>▪ 保留率差异  </a:t>
            </a:r>
            <a:r>
              <a:rPr sz="1350">
                <a:solidFill>
                  <a:srgbClr val="18364A"/>
                </a:solidFill>
                <a:latin typeface="Microsoft YaHei"/>
              </a:rPr>
              <a:t>正常邮件保留 98.37%，垃圾邮件只保留 29.35%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187A87"/>
                </a:solidFill>
                <a:latin typeface="Microsoft YaHei"/>
              </a:rPr>
              <a:t>▪ 结论  </a:t>
            </a:r>
            <a:r>
              <a:rPr sz="1350">
                <a:solidFill>
                  <a:srgbClr val="18364A"/>
                </a:solidFill>
                <a:latin typeface="Microsoft YaHei"/>
              </a:rPr>
              <a:t>垃圾邮件的精确重复远多于正常邮件，最终成绩描述的是「不同规范化文本代表」，不是自然邮件流分布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926080"/>
            <a:ext cx="5166360" cy="233172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7" y="3044952"/>
            <a:ext cx="4764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C9E8"/>
                </a:solidFill>
                <a:latin typeface="Consolas"/>
              </a:rPr>
              <a:t>src/spam_classifier/email_parser.py — 统一清洗函数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3407" y="3346704"/>
            <a:ext cx="4764024" cy="17830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def clean_text(text: str) -&gt; str: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"""Normalize Unicode and obvious contact identifiers without dropping digits."""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text = unicodedata.normalize("NFKC", text).lower()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text = text.replace("\r\n", "\n").replace("\r", "\n")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text = "".join(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char for char in text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if char in "\n\t" or unicodedata.category(char) not in {"Cc", "Cf", "Cs"}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text = "\n".join(re.sub(r"[^\S\n]+", " ", line).strip() for line in text.split("\n"))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text = URL.sub(" urltoken ", text)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text = EMAIL.sub(" emailtoken ", text)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text = PHONE.sub(" phonetoken ", text)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text = "\n".join(re.sub(r"[^\S\n]+", " ", line).strip() for line in text.split("\n"))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486400"/>
            <a:ext cx="11155680" cy="658368"/>
          </a:xfrm>
          <a:prstGeom prst="roundRect">
            <a:avLst>
              <a:gd name="adj" fmla="val 3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altLang="zh-CN">
                <a:solidFill>
                  <a:srgbClr val="18364A"/>
                </a:solidFill>
                <a:latin typeface="Microsoft YaHei"/>
              </a:rPr>
              <a:t>清洗状态：ok 29,891 封  ·  recovered 33,307 封  ·  subject_only 1,422 封  ·  隔离 0 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altLang="zh-CN">
                <a:solidFill>
                  <a:srgbClr val="526372"/>
                </a:solidFill>
                <a:latin typeface="Microsoft YaHei"/>
              </a:rPr>
              <a:t>第 3 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altLang="zh-CN">
                <a:solidFill>
                  <a:srgbClr val="18364A"/>
                </a:solidFill>
                <a:latin typeface="Microsoft YaHei"/>
              </a:rPr>
              <a:t>邮件解析：编码、MIME 与 HTML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25603"/>
          </a:xfrm>
          <a:prstGeom prst="rect">
            <a:avLst/>
          </a:prstGeom>
          <a:solidFill>
            <a:srgbClr val="18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236208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5577840" cy="246888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00200"/>
            <a:ext cx="5175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C9E8"/>
                </a:solidFill>
                <a:latin typeface="Consolas"/>
              </a:rPr>
              <a:t>传输编码：base64 / quoted-printable 解码与安全回退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01952"/>
            <a:ext cx="5175503" cy="1920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if token in {"base64", "quoted-printable"} and token != cte: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    actions.append("normalized_transfer_encoding")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if token == "quoted-printable":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    return quopri.decodestring(raw_value)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if token == "base64":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    # Populate standard-library transfer defects, but do not trust its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    # permissive decoder to turn already-decoded prose into random bytes.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    part.get_payload(decode=True)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    compact = re.sub(rb"\s+", b"", raw_value)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    try: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        return base64.b64decode(compact + b"=" * ((-len(compact)) % 4),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            validate=True)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    except Exception: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E6EDF3"/>
                </a:solidFill>
                <a:latin typeface="Consolas"/>
              </a:rPr>
              <a:t>            candidate = _decode_bytes(raw_value, part.get_content_charset())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81328"/>
            <a:ext cx="5349240" cy="246888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00200"/>
            <a:ext cx="49469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C9E8"/>
                </a:solidFill>
                <a:latin typeface="Consolas"/>
              </a:rPr>
              <a:t>HTML：去 script/style、解实体、保留文字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46903" cy="1920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def html_to_text(text: str) -&gt; str: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soup = BeautifulSoup(text, "html.parser")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for node in soup.find_all(["script", "style", "head",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    "template", "noscript"]):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    node.decompose()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for node in soup.find_all(string=lambda value: isinstance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    (value, Comment)):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    node.extract()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for node in soup.find_all("br"):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    node.replace_with("\n")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60520"/>
            <a:ext cx="111556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187A87"/>
                </a:solidFill>
                <a:latin typeface="Microsoft YaHei"/>
              </a:rPr>
              <a:t>▪ 顺序固定  </a:t>
            </a:r>
            <a:r>
              <a:rPr sz="1350">
                <a:solidFill>
                  <a:srgbClr val="18364A"/>
                </a:solidFill>
                <a:latin typeface="Microsoft YaHei"/>
              </a:rPr>
              <a:t>先解传输编码 → 再按声明字符集解码 → 最后处理 HTML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187A87"/>
                </a:solidFill>
                <a:latin typeface="Microsoft YaHei"/>
              </a:rPr>
              <a:t>▪ 候选回退链  </a:t>
            </a:r>
            <a:r>
              <a:rPr sz="1350">
                <a:solidFill>
                  <a:srgbClr val="18364A"/>
                </a:solidFill>
                <a:latin typeface="Microsoft YaHei"/>
              </a:rPr>
              <a:t>BOM → HTML meta → utf-8 → gb18030 → gbk，逐个 strict 尝试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187A87"/>
                </a:solidFill>
                <a:latin typeface="Microsoft YaHei"/>
              </a:rPr>
              <a:t>▪ 乱码检测  </a:t>
            </a:r>
            <a:r>
              <a:rPr sz="1350">
                <a:solidFill>
                  <a:srgbClr val="18364A"/>
                </a:solidFill>
                <a:latin typeface="Microsoft YaHei"/>
              </a:rPr>
              <a:t>控制字符比例超 2% 判为二进制并跳过该候选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187A87"/>
                </a:solidFill>
                <a:latin typeface="Microsoft YaHei"/>
              </a:rPr>
              <a:t>▪ MIME 处理  </a:t>
            </a:r>
            <a:r>
              <a:rPr sz="1350">
                <a:solidFill>
                  <a:srgbClr val="18364A"/>
                </a:solidFill>
                <a:latin typeface="Microsoft YaHei"/>
              </a:rPr>
              <a:t>multipart/alternative 只选一个有效表示；related 只取根部件；跳过附件与转发的整封子邮件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806440"/>
            <a:ext cx="11155680" cy="384048"/>
          </a:xfrm>
          <a:prstGeom prst="roundRect">
            <a:avLst>
              <a:gd name="adj" fmla="val 3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88873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altLang="zh-CN">
                <a:solidFill>
                  <a:srgbClr val="B43F3F"/>
                </a:solidFill>
                <a:latin typeface="Microsoft YaHei"/>
              </a:rPr>
              <a:t>注意：替换符比例为 0 不能证明没有语义乱码；private-use 字符会另标质量警告。「技术可用」≠「语义正确」。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altLang="zh-CN">
                <a:solidFill>
                  <a:srgbClr val="526372"/>
                </a:solidFill>
                <a:latin typeface="Microsoft YaHei"/>
              </a:rPr>
              <a:t>第 4 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altLang="zh-CN">
                <a:solidFill>
                  <a:srgbClr val="18364A"/>
                </a:solidFill>
                <a:latin typeface="Microsoft YaHei"/>
              </a:rPr>
              <a:t>去重与冻结数据划分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25603"/>
          </a:xfrm>
          <a:prstGeom prst="rect">
            <a:avLst/>
          </a:prstGeom>
          <a:solidFill>
            <a:srgbClr val="18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236208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81328"/>
          <a:ext cx="11155678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107"/>
                <a:gridCol w="1494064"/>
                <a:gridCol w="1494064"/>
                <a:gridCol w="1494064"/>
                <a:gridCol w="1593668"/>
                <a:gridCol w="1195251"/>
                <a:gridCol w="13944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集合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正常 ham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垃圾 spam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实际占比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分组数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8364A"/>
                          </a:solidFill>
                          <a:latin typeface="Microsoft YaHei"/>
                        </a:rPr>
                        <a:t>训练 train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8364A"/>
                          </a:solidFill>
                          <a:latin typeface="Microsoft YaHei"/>
                        </a:rPr>
                        <a:t>14,988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8364A"/>
                          </a:solidFill>
                          <a:latin typeface="Microsoft YaHei"/>
                        </a:rPr>
                        <a:t>8,804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8364A"/>
                          </a:solidFill>
                          <a:latin typeface="Microsoft YaHei"/>
                        </a:rPr>
                        <a:t>23,792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8364A"/>
                          </a:solidFill>
                          <a:latin typeface="Microsoft YaHei"/>
                        </a:rPr>
                        <a:t>70.001%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8364A"/>
                          </a:solidFill>
                          <a:latin typeface="Microsoft YaHei"/>
                        </a:rPr>
                        <a:t>70%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8364A"/>
                          </a:solidFill>
                          <a:latin typeface="Microsoft YaHei"/>
                        </a:rPr>
                        <a:t>21,609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验证 validation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3,212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1,887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5,099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15.002%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4,604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测试 test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3,211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1,886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5,097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14.996%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8364A"/>
                          </a:solidFill>
                          <a:latin typeface="Microsoft YaHei"/>
                        </a:rPr>
                        <a:t>4,604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2926080"/>
            <a:ext cx="5577840" cy="274320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044952"/>
            <a:ext cx="5175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C9E8"/>
                </a:solidFill>
                <a:latin typeface="Consolas"/>
              </a:rPr>
              <a:t>src/spam_classifier/data_split.py — 整组贪心分配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346704"/>
            <a:ext cx="5175503" cy="2194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           or not math.isfinite(v) or not 0 &lt; v &lt; 1 for v in ratios.values()):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       raise ValueError("Use positive finite train/validation/test ratios.")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   if not math.isclose(sum(ratios.values()), 1.0, rel_tol=0, abs_tol=1e-9):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       raise ValueError("Ratios must sum to one.")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def assign_splits(representatives: list[dict], *, seed: int, ratios: dict) -&gt; list[dict]: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   """Greedy whole-group allocation minimizing normalized class count error."""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   validate_parameters(seed, ratios)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   if len({row["mail_id"] for row in representatives}) != len(representatives):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       raise ValueError("Representative IDs must be unique.")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   groups = defaultdict(list)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   for row in representatives: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       groups[row["leakage_group_id"]].append(row)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   totals = Counter(row["label_name"] for row in representatives)</a:t>
            </a:r>
          </a:p>
          <a:p>
            <a:pPr>
              <a:lnSpc>
                <a:spcPct val="100000"/>
              </a:lnSpc>
            </a:pPr>
            <a:r>
              <a:rPr sz="750">
                <a:solidFill>
                  <a:srgbClr val="E6EDF3"/>
                </a:solidFill>
                <a:latin typeface="Consolas"/>
              </a:rPr>
              <a:t>    targets = {label: integer_targets(totals[label], ratios) for label in LABELS}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971800"/>
            <a:ext cx="5349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187A87"/>
                </a:solidFill>
                <a:latin typeface="Microsoft YaHei"/>
              </a:rPr>
              <a:t>▪ 同标签同文本  </a:t>
            </a:r>
            <a:r>
              <a:rPr sz="1300">
                <a:solidFill>
                  <a:srgbClr val="18364A"/>
                </a:solidFill>
                <a:latin typeface="Microsoft YaHei"/>
              </a:rPr>
              <a:t>只保留一个确定代表；跨标签精确重复键整组隔离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187A87"/>
                </a:solidFill>
                <a:latin typeface="Microsoft YaHei"/>
              </a:rPr>
              <a:t>▪ 连通分组  </a:t>
            </a:r>
            <a:r>
              <a:rPr sz="1300">
                <a:solidFill>
                  <a:srgbClr val="18364A"/>
                </a:solidFill>
                <a:latin typeface="Microsoft YaHei"/>
              </a:rPr>
              <a:t>共享原始字节/最终文本/正文/HTML 对照文本构成 30,817 个分组，整组分配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187A87"/>
                </a:solidFill>
                <a:latin typeface="Microsoft YaHei"/>
              </a:rPr>
              <a:t>▪ 开发样本约束  </a:t>
            </a:r>
            <a:r>
              <a:rPr sz="1300">
                <a:solidFill>
                  <a:srgbClr val="18364A"/>
                </a:solidFill>
                <a:latin typeface="Microsoft YaHei"/>
              </a:rPr>
              <a:t>400 封开发样本触及的 372 个分组、1,738 封代表强制进训练侧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187A87"/>
                </a:solidFill>
                <a:latin typeface="Microsoft YaHei"/>
              </a:rPr>
              <a:t>▪ 冻结契约  </a:t>
            </a:r>
            <a:r>
              <a:rPr sz="1300">
                <a:solidFill>
                  <a:srgbClr val="18364A"/>
                </a:solidFill>
                <a:latin typeface="Microsoft YaHei"/>
              </a:rPr>
              <a:t>seed=42、70/15/15；重复运行必须与已冻结产物一致，否则返回 2 并保留旧版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altLang="zh-CN">
                <a:solidFill>
                  <a:srgbClr val="526372"/>
                </a:solidFill>
                <a:latin typeface="Microsoft YaHei"/>
              </a:rPr>
              <a:t>第 5 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altLang="zh-CN">
                <a:solidFill>
                  <a:srgbClr val="18364A"/>
                </a:solidFill>
                <a:latin typeface="Microsoft YaHei"/>
              </a:rPr>
              <a:t>jieba 分词与训练侧 TF-IDF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25603"/>
          </a:xfrm>
          <a:prstGeom prst="rect">
            <a:avLst/>
          </a:prstGeom>
          <a:solidFill>
            <a:srgbClr val="18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236208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5577840" cy="260604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00200"/>
            <a:ext cx="5175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C9E8"/>
                </a:solidFill>
                <a:latin typeface="Consolas"/>
              </a:rPr>
              <a:t>src/spam_classifier/text_features.py — 固定分词规则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01952"/>
            <a:ext cx="5175503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Consolas"/>
              </a:rPr>
              <a:t>def tokenize_text(text: str) -&gt; list[str]: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Consolas"/>
              </a:rPr>
              <a:t>    text = unicodedata.normalize("NFKC", text).lower()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Consolas"/>
              </a:rPr>
              <a:t>    tokens = []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Consolas"/>
              </a:rPr>
              <a:t>    for value in TOKENIZER.cut(text, cut_all=False, HMM=False):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Consolas"/>
              </a:rPr>
              <a:t>        token = value.strip()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Consolas"/>
              </a:rPr>
              <a:t>        if token in PLACEHOLDERS: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Consolas"/>
              </a:rPr>
              <a:t>            tokens.append(token)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Consolas"/>
              </a:rPr>
              <a:t>        elif (token not in STOPWORDS and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Consolas"/>
              </a:rPr>
              <a:t>            TOKEN_PATTERN.fullmatch(token)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Consolas"/>
              </a:rPr>
              <a:t>              and len(token) &lt;= 40 and not (len(token) == 1 and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Consolas"/>
              </a:rPr>
              <a:t>                  token.isascii() and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Consolas"/>
              </a:rPr>
              <a:t>                  token.isalpha())):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81328"/>
            <a:ext cx="5349240" cy="260604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00200"/>
            <a:ext cx="49469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C9E8"/>
                </a:solidFill>
                <a:latin typeface="Consolas"/>
              </a:rPr>
              <a:t>TF-IDF 参数（min_df=2, max_features=50000）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46903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def make_feature_pipeline() -&gt; Pipeline: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return Pipeline([("tfidf", TfidfVectorizer(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    tokenizer=tokenize_text, token_pattern=None,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        lowercase=False,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    ngram_range=(1, 1), min_df=2, max_df=1.0,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        max_features=50000,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    sublinear_tf=True, use_idf=True, smooth_idf=True,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        norm="l2", dtype=np.float64,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   ))])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315968"/>
            <a:ext cx="5577840" cy="1600200"/>
          </a:xfrm>
          <a:prstGeom prst="roundRect">
            <a:avLst>
              <a:gd name="adj" fmla="val 3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46227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altLang="zh-CN">
                <a:solidFill>
                  <a:srgbClr val="187A87"/>
                </a:solidFill>
                <a:latin typeface="Microsoft YaHei"/>
              </a:rPr>
              <a:t>人工分词示例（非真实邮件）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773168"/>
            <a:ext cx="5120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8364A"/>
                </a:solidFill>
                <a:latin typeface="Consolas"/>
              </a:rPr>
              <a:t>输入：会议通知：请明天参加项目讨论。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8364A"/>
                </a:solidFill>
                <a:latin typeface="Consolas"/>
              </a:rPr>
              <a:t>输出：会议 / 通知 / 请 / 明天 / 参加 / 项目 / 讨论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8364A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8364A"/>
                </a:solidFill>
                <a:latin typeface="Consolas"/>
              </a:rPr>
              <a:t>输入：免费会员优惠！访问 urltoken，联系 emailtoken。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8364A"/>
                </a:solidFill>
                <a:latin typeface="Consolas"/>
              </a:rPr>
              <a:t>输出：免费 / 会员 / 优惠 / 访问 / urltoken / 联系 / emailtoken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370832"/>
            <a:ext cx="5349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TF-IDF 含义  </a:t>
            </a:r>
            <a:r>
              <a:rPr sz="1250">
                <a:solidFill>
                  <a:srgbClr val="18364A"/>
                </a:solidFill>
                <a:latin typeface="Microsoft YaHei"/>
              </a:rPr>
              <a:t>同时衡量词在本封邮件中是否突出，以及在训练语料中是否过于普遍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拟合范围  </a:t>
            </a:r>
            <a:r>
              <a:rPr sz="1250">
                <a:solidFill>
                  <a:srgbClr val="18364A"/>
                </a:solidFill>
                <a:latin typeface="Microsoft YaHei"/>
              </a:rPr>
              <a:t>词表与 IDF 只在 train 的 23,792 封上拟合；验证/测试只 transform，未知词不新增列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矩阵规模  </a:t>
            </a:r>
            <a:r>
              <a:rPr sz="1250">
                <a:solidFill>
                  <a:srgbClr val="18364A"/>
                </a:solidFill>
                <a:latin typeface="Microsoft YaHei"/>
              </a:rPr>
              <a:t>train 23,792 × 50,000，nnz 3,664,021，密度 0.308%，三套集合无空向量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指纹验证  </a:t>
            </a:r>
            <a:r>
              <a:rPr sz="1250">
                <a:solidFill>
                  <a:srgbClr val="18364A"/>
                </a:solidFill>
                <a:latin typeface="Microsoft YaHei"/>
              </a:rPr>
              <a:t>独立脚本重算训练 DF/IDF，并在新进程重载管线核对词表与 IDF 指纹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altLang="zh-CN">
                <a:solidFill>
                  <a:srgbClr val="526372"/>
                </a:solidFill>
                <a:latin typeface="Microsoft YaHei"/>
              </a:rPr>
              <a:t>第 6 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altLang="zh-CN">
                <a:solidFill>
                  <a:srgbClr val="18364A"/>
                </a:solidFill>
                <a:latin typeface="Microsoft YaHei"/>
              </a:rPr>
              <a:t>验证集上的七次预设实验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25603"/>
          </a:xfrm>
          <a:prstGeom prst="rect">
            <a:avLst/>
          </a:prstGeom>
          <a:solidFill>
            <a:srgbClr val="18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236208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11155676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432"/>
                <a:gridCol w="1459621"/>
                <a:gridCol w="1563880"/>
                <a:gridCol w="1563880"/>
                <a:gridCol w="1459621"/>
                <a:gridCol w="1563880"/>
                <a:gridCol w="135536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准确率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spam 精确率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spam 召回率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macro-F1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ham 误报率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FP/FN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多数类基线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62.99%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0.00%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0.00%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38.65%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0.000%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0 / 1887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NB α=1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95.23%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92.90%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94.33%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94.91%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4.234%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136 / 107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LR C=1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98.53%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99.08%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96.93%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98.42%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0.529%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17 / 58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NB α=0.1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95.88%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93.47%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95.55%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95.60%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3.923%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126 / 84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NB α=0.5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95.57%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93.05%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95.12%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95.27%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4.172%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134 / 92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LR C=0.5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98.14%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98.70%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96.24%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97.99%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0.747%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24 / 71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LR C=2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98.86%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99.41%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97.51%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98.78%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0.342%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11 / 47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206240"/>
            <a:ext cx="5577840" cy="196596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4325112"/>
            <a:ext cx="5175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C9E8"/>
                </a:solidFill>
                <a:latin typeface="Consolas"/>
              </a:rPr>
              <a:t>选择规则在运行前固定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626864"/>
            <a:ext cx="5175503" cy="14173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SELECTION_POLICY = {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"eligible_rows": "exclude family='majority' and rows where converged is not true",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"ranking": [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{"metric": "macro_f1", "order": "descending"},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{"metric": "ham_false_positive_rate", "order": "ascending"},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{"metric": "spam_recall", "order": "descending"},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{"metric": "candidate_id", "order": "ascending_lexical"},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],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"precision": "use exact unrounded metric values",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51960"/>
            <a:ext cx="53492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为什么看 macro-F1  </a:t>
            </a:r>
            <a:r>
              <a:rPr sz="1250">
                <a:solidFill>
                  <a:srgbClr val="18364A"/>
                </a:solidFill>
                <a:latin typeface="Microsoft YaHei"/>
              </a:rPr>
              <a:t>多数类准确率 62.99%，却漏掉全部 1,887 封垃圾邮件——准确率在不平衡下极具误导性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为什么选 LR C=2  </a:t>
            </a:r>
            <a:r>
              <a:rPr sz="1250">
                <a:solidFill>
                  <a:srgbClr val="18364A"/>
                </a:solidFill>
                <a:latin typeface="Microsoft YaHei"/>
              </a:rPr>
              <a:t>macro-F1 最高 98.78%，且误报与漏报同时优于最佳 NB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收敛检查  </a:t>
            </a:r>
            <a:r>
              <a:rPr sz="1250">
                <a:solidFill>
                  <a:srgbClr val="18364A"/>
                </a:solidFill>
                <a:latin typeface="Microsoft YaHei"/>
              </a:rPr>
              <a:t>三组 LR 分别 6、7、7 次迭代收敛，无训练警告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范围声明  </a:t>
            </a:r>
            <a:r>
              <a:rPr sz="1250">
                <a:solidFill>
                  <a:srgbClr val="18364A"/>
                </a:solidFill>
                <a:latin typeface="Microsoft YaHei"/>
              </a:rPr>
              <a:t>只比较预设的 6 个正式配置，没有证据说明 C=2 是所有可能配置中的最优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altLang="zh-CN">
                <a:solidFill>
                  <a:srgbClr val="526372"/>
                </a:solidFill>
                <a:latin typeface="Microsoft YaHei"/>
              </a:rPr>
              <a:t>第 7 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altLang="zh-CN">
                <a:solidFill>
                  <a:srgbClr val="18364A"/>
                </a:solidFill>
                <a:latin typeface="Microsoft YaHei"/>
              </a:rPr>
              <a:t>固定条件下的 HTML 清洗对照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25603"/>
          </a:xfrm>
          <a:prstGeom prst="rect">
            <a:avLst/>
          </a:prstGeom>
          <a:solidFill>
            <a:srgbClr val="18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236208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81328"/>
          <a:ext cx="11155678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987"/>
                <a:gridCol w="1535185"/>
                <a:gridCol w="1637531"/>
                <a:gridCol w="1535185"/>
                <a:gridCol w="921111"/>
                <a:gridCol w="921111"/>
                <a:gridCol w="1944568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输入表示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准确率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spam 召回率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macro-F1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FP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FN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标记 token 占比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去标签可读文本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98.8625%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97.5093%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98.7753%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47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0.0198%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保留 HTML 标签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98.8429%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97.4563%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98.7540%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48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0.2209%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108960"/>
            <a:ext cx="60350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187A87"/>
                </a:solidFill>
                <a:latin typeface="Microsoft YaHei"/>
              </a:rPr>
              <a:t>▪ 实验控制  </a:t>
            </a:r>
            <a:r>
              <a:rPr sz="1300">
                <a:solidFill>
                  <a:srgbClr val="18364A"/>
                </a:solidFill>
                <a:latin typeface="Microsoft YaHei"/>
              </a:rPr>
              <a:t>固定 LR C=2、训练/验证 ID、标签、分词与 TF-IDF 参数，只改变是否去掉 HTML 标签；两臂各自在训练集学习自己的词表与 IDF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187A87"/>
                </a:solidFill>
                <a:latin typeface="Microsoft YaHei"/>
              </a:rPr>
              <a:t>▪ 差异极小  </a:t>
            </a:r>
            <a:r>
              <a:rPr sz="1300">
                <a:solidFill>
                  <a:srgbClr val="18364A"/>
                </a:solidFill>
                <a:latin typeface="Microsoft YaHei"/>
              </a:rPr>
              <a:t>macro-F1 高 0.0213 个百分点，验证集只相差 1 封（去标签正确、保留 HTML 错误）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187A87"/>
                </a:solidFill>
                <a:latin typeface="Microsoft YaHei"/>
              </a:rPr>
              <a:t>▪ 实际改动量  </a:t>
            </a:r>
            <a:r>
              <a:rPr sz="1300">
                <a:solidFill>
                  <a:srgbClr val="18364A"/>
                </a:solidFill>
                <a:latin typeface="Microsoft YaHei"/>
              </a:rPr>
              <a:t>两种表示实际不同的训练/验证样本仅 156 / 36 封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187A87"/>
                </a:solidFill>
                <a:latin typeface="Microsoft YaHei"/>
              </a:rPr>
              <a:t>▪ 诚实结论  </a:t>
            </a:r>
            <a:r>
              <a:rPr sz="1300">
                <a:solidFill>
                  <a:srgbClr val="18364A"/>
                </a:solidFill>
                <a:latin typeface="Microsoft YaHei"/>
              </a:rPr>
              <a:t>不能宣称显著提升或普遍有效；按预先声明的排序规则锁定去标签表示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187A87"/>
                </a:solidFill>
                <a:latin typeface="Microsoft YaHei"/>
              </a:rPr>
              <a:t>▪ 噪声代理  </a:t>
            </a:r>
            <a:r>
              <a:rPr sz="1300">
                <a:solidFill>
                  <a:srgbClr val="18364A"/>
                </a:solidFill>
                <a:latin typeface="Microsoft YaHei"/>
              </a:rPr>
              <a:t>标记 token 占比 0.2209% → 0.0198% 只是噪声代理指标，不证明语义改善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3108960"/>
            <a:ext cx="4846320" cy="274320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13448" y="3227832"/>
            <a:ext cx="4443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C9E8"/>
                </a:solidFill>
                <a:latin typeface="Consolas"/>
              </a:rPr>
              <a:t>确定性排序规则（比较使用未四舍五入原值）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3529584"/>
            <a:ext cx="4443983" cy="2194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def select_candidate(results: Sequence[Mapping[str, Any]]) -&gt; str: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"""Choose the eligible candidate using the frozen exact-value policy."""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eligible = []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for row in results: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if not isinstance(row, Mapping):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    raise TypeError("each result must be a mapping")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if row.get("family") == "majority" or row.get("converged") is not True: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    continue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candidate_id = row.get("candidate_id")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metrics = row.get("metrics")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if not isinstance(candidate_id, str) or not candidate_id: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    raise ValueError("eligible results require a nonempty candidate_id")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if not isinstance(metrics, Mapping):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    raise ValueError(f"eligible result {candidate_id!r} requires metrics")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try: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altLang="zh-CN">
                <a:solidFill>
                  <a:srgbClr val="526372"/>
                </a:solidFill>
                <a:latin typeface="Microsoft YaHei"/>
              </a:rPr>
              <a:t>第 8 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altLang="zh-CN">
                <a:solidFill>
                  <a:srgbClr val="18364A"/>
                </a:solidFill>
                <a:latin typeface="Microsoft YaHei"/>
              </a:rPr>
              <a:t>锁定方案后的最终测试（5,097 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25603"/>
          </a:xfrm>
          <a:prstGeom prst="rect">
            <a:avLst/>
          </a:prstGeom>
          <a:solidFill>
            <a:srgbClr val="18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236208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81328"/>
          <a:ext cx="11155676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732"/>
                <a:gridCol w="1250205"/>
                <a:gridCol w="1442544"/>
                <a:gridCol w="1442544"/>
                <a:gridCol w="1250205"/>
                <a:gridCol w="1057866"/>
                <a:gridCol w="769357"/>
                <a:gridCol w="769357"/>
                <a:gridCol w="1057866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准确率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spam 精确率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spam 召回率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macro-F1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TN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FP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FN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TP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多数类基线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63.00%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0.00%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0.00%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38.65%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3,211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1,886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NB α=0.1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96.17%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93.16%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96.77%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95.93%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3,077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134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61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364A"/>
                          </a:solidFill>
                          <a:latin typeface="Microsoft YaHei"/>
                        </a:rPr>
                        <a:t>1,825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LR C=2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99.22%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99.41%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98.46%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99.16%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3,200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29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364A"/>
                          </a:solidFill>
                          <a:latin typeface="Microsoft YaHei"/>
                        </a:rPr>
                        <a:t>1,857</a:t>
                      </a:r>
                    </a:p>
                  </a:txBody>
                  <a:tcPr marL="45720" marR="45720" marT="9144" marB="9144">
                    <a:solidFill>
                      <a:srgbClr val="FBE7D6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stage08_lr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0"/>
            <a:ext cx="3222013" cy="2606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3017520"/>
            <a:ext cx="3749039" cy="260604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3136391"/>
            <a:ext cx="3346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C9E8"/>
                </a:solidFill>
                <a:latin typeface="Consolas"/>
              </a:rPr>
              <a:t>src/spam_classifier/final_evaluation.py — 锁定模型评估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3438144"/>
            <a:ext cx="3346703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from .model_selection import validation_metrics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from .text_features import PUBLIC_TERMS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def score_locked_models(models: dict, records: list[dict],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representation: str):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if set(models) != {"majority", "nb", "lr"} or not records: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raise ValueError("Exactly three locked models and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    a nonempty test set are required.")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truth = np.asarray([r["label"] for r in records])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texts = [r[representation] for r in records]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predictions, metrics, reviews, diagnostics = [], {}, {},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{}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for name in ("majority", "nb", "lr"):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pipeline = models[name]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predicted = pipeline.predict(texts)</a:t>
            </a:r>
          </a:p>
          <a:p>
            <a:pPr>
              <a:lnSpc>
                <a:spcPct val="100000"/>
              </a:lnSpc>
            </a:pPr>
            <a:r>
              <a:rPr sz="700">
                <a:solidFill>
                  <a:srgbClr val="E6EDF3"/>
                </a:solidFill>
                <a:latin typeface="Consolas"/>
              </a:rPr>
              <a:t>        metrics[name] = validation_metrics(truth, predicted)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63240"/>
            <a:ext cx="31089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187A87"/>
                </a:solidFill>
                <a:latin typeface="Microsoft YaHei"/>
              </a:rPr>
              <a:t>▪ 两类错误同时改善  </a:t>
            </a:r>
            <a:r>
              <a:rPr sz="1150">
                <a:solidFill>
                  <a:srgbClr val="18364A"/>
                </a:solidFill>
                <a:latin typeface="Microsoft YaHei"/>
              </a:rPr>
              <a:t>相比 NB，误报 134 → 11 封，漏报 61 → 29 封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187A87"/>
                </a:solidFill>
                <a:latin typeface="Microsoft YaHei"/>
              </a:rPr>
              <a:t>▪ 独立核验通过  </a:t>
            </a:r>
            <a:r>
              <a:rPr sz="1150">
                <a:solidFill>
                  <a:srgbClr val="18364A"/>
                </a:solidFill>
                <a:latin typeface="Microsoft YaHei"/>
              </a:rPr>
              <a:t>新进程重载、按训练集独立重训、独立重算指标，17 项总检查 + 91 项逐候选检查全通过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187A87"/>
                </a:solidFill>
                <a:latin typeface="Microsoft YaHei"/>
              </a:rPr>
              <a:t>▪ 未用于调参  </a:t>
            </a:r>
            <a:r>
              <a:rPr sz="1150">
                <a:solidFill>
                  <a:srgbClr val="18364A"/>
                </a:solidFill>
                <a:latin typeface="Microsoft YaHei"/>
              </a:rPr>
              <a:t>测试成绩在方案锁定之后才计算，未据以修改参数或重新选型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altLang="zh-CN">
                <a:solidFill>
                  <a:srgbClr val="526372"/>
                </a:solidFill>
                <a:latin typeface="Microsoft YaHei"/>
              </a:rPr>
              <a:t>结果解读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altLang="zh-CN">
                <a:solidFill>
                  <a:srgbClr val="18364A"/>
                </a:solidFill>
                <a:latin typeface="Microsoft YaHei"/>
              </a:rPr>
              <a:t>混淆矩阵与两个错误方向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25603"/>
          </a:xfrm>
          <a:prstGeom prst="rect">
            <a:avLst/>
          </a:prstGeom>
          <a:solidFill>
            <a:srgbClr val="18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236208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10</a:t>
            </a:r>
          </a:p>
        </p:txBody>
      </p:sp>
      <p:pic>
        <p:nvPicPr>
          <p:cNvPr id="6" name="Picture 5" descr="stage08_lr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474823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44068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LR 冻结测试集混淆矩阵（n=5,097）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481328"/>
            <a:ext cx="6812280" cy="214884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7488" y="1600200"/>
            <a:ext cx="6409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C9E8"/>
                </a:solidFill>
                <a:latin typeface="Consolas"/>
              </a:rPr>
              <a:t>src/spam_classifier/model_selection.py — 混淆计数与指标定义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1901952"/>
            <a:ext cx="6409944" cy="160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   tn = int(np.count_nonzero((truth == 0) &amp; (prediction == 0)))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   fp = int(np.count_nonzero((truth == 0) &amp; (prediction == 1)))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   fn = int(np.count_nonzero((truth == 1) &amp; (prediction == 0)))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   tp = int(np.count_nonzero((truth == 1) &amp; (prediction == 1)))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   ham_support = tn + fp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   spam_support = fn + tp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   n = int(truth.size)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   def ratio(numerator: int, denominator: int) -&gt; float: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       return float(numerator / denominator) if denominator else 0.0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   accuracy = ratio(tn + tp, n)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   spam_precision = ratio(tp, tp + fp)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   spam_recall = ratio(tp, tp + fn)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   ham_precision = ratio(tn, tn + fn)</a:t>
            </a:r>
          </a:p>
          <a:p>
            <a:pPr>
              <a:lnSpc>
                <a:spcPct val="100000"/>
              </a:lnSpc>
            </a:pPr>
            <a:r>
              <a:rPr sz="600">
                <a:solidFill>
                  <a:srgbClr val="E6EDF3"/>
                </a:solidFill>
                <a:latin typeface="Consolas"/>
              </a:rPr>
              <a:t>    ham_recall = ratio(tn, tn + fp)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3794760"/>
            <a:ext cx="3291840" cy="1965960"/>
          </a:xfrm>
          <a:prstGeom prst="roundRect">
            <a:avLst>
              <a:gd name="adj" fmla="val 3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39502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altLang="zh-CN">
                <a:solidFill>
                  <a:srgbClr val="B43F3F"/>
                </a:solidFill>
                <a:latin typeface="Microsoft YaHei"/>
              </a:rPr>
              <a:t>FP 误报（正常→垃圾）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279392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altLang="zh-CN">
                <a:solidFill>
                  <a:srgbClr val="18364A"/>
                </a:solidFill>
                <a:latin typeface="Microsoft YaHei"/>
              </a:rPr>
              <a:t>LR 11 封  ·  NB 134 封</a:t>
            </a:r>
          </a:p>
          <a:p>
            <a:pPr algn="l">
              <a:lnSpc>
                <a:spcPct val="120000"/>
              </a:lnSpc>
            </a:pPr>
            <a:r>
              <a:rPr sz="1200" b="0" altLang="zh-CN">
                <a:solidFill>
                  <a:srgbClr val="18364A"/>
                </a:solidFill>
                <a:latin typeface="Microsoft YaHei"/>
              </a:rPr>
              <a:t>业务后果：用户丢失重要邮件</a:t>
            </a:r>
          </a:p>
          <a:p>
            <a:pPr algn="l">
              <a:lnSpc>
                <a:spcPct val="120000"/>
              </a:lnSpc>
            </a:pPr>
            <a:r>
              <a:rPr sz="1200" b="0" altLang="zh-CN">
                <a:solidFill>
                  <a:srgbClr val="18364A"/>
                </a:solidFill>
                <a:latin typeface="Microsoft YaHei"/>
              </a:rPr>
              <a:t>根因：招聘/通知与商业推广词重叠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3794760"/>
            <a:ext cx="3291840" cy="1965960"/>
          </a:xfrm>
          <a:prstGeom prst="roundRect">
            <a:avLst>
              <a:gd name="adj" fmla="val 3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39502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altLang="zh-CN">
                <a:solidFill>
                  <a:srgbClr val="187A87"/>
                </a:solidFill>
                <a:latin typeface="Microsoft YaHei"/>
              </a:rPr>
              <a:t>FN 漏报（垃圾→正常）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279392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altLang="zh-CN">
                <a:solidFill>
                  <a:srgbClr val="18364A"/>
                </a:solidFill>
                <a:latin typeface="Microsoft YaHei"/>
              </a:rPr>
              <a:t>LR 29 封  ·  NB 61 封</a:t>
            </a:r>
          </a:p>
          <a:p>
            <a:pPr algn="l">
              <a:lnSpc>
                <a:spcPct val="120000"/>
              </a:lnSpc>
            </a:pPr>
            <a:r>
              <a:rPr sz="1200" b="0" altLang="zh-CN">
                <a:solidFill>
                  <a:srgbClr val="18364A"/>
                </a:solidFill>
                <a:latin typeface="Microsoft YaHei"/>
              </a:rPr>
              <a:t>业务后果：垃圾邮件进入收件箱</a:t>
            </a:r>
          </a:p>
          <a:p>
            <a:pPr algn="l">
              <a:lnSpc>
                <a:spcPct val="120000"/>
              </a:lnSpc>
            </a:pPr>
            <a:r>
              <a:rPr sz="1200" b="0" altLang="zh-CN">
                <a:solidFill>
                  <a:srgbClr val="18364A"/>
                </a:solidFill>
                <a:latin typeface="Microsoft YaHei"/>
              </a:rPr>
              <a:t>根因：叙事包裹推广 + 可用文本过短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70448"/>
            <a:ext cx="11018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altLang="zh-CN">
                <a:solidFill>
                  <a:srgbClr val="C56A32"/>
                </a:solidFill>
                <a:latin typeface="Microsoft YaHei"/>
              </a:rPr>
              <a:t>多数类基线：准确率 63.00% 却漏掉全部 1,886 封垃圾邮件 → 准确率单独使用会严重误导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altLang="zh-CN">
                <a:solidFill>
                  <a:srgbClr val="526372"/>
                </a:solidFill>
                <a:latin typeface="Microsoft YaHei"/>
              </a:rPr>
              <a:t>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altLang="zh-CN">
                <a:solidFill>
                  <a:srgbClr val="18364A"/>
                </a:solidFill>
                <a:latin typeface="Microsoft YaHei"/>
              </a:rPr>
              <a:t>真实错分样本的语义观察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25603"/>
          </a:xfrm>
          <a:prstGeom prst="rect">
            <a:avLst/>
          </a:prstGeom>
          <a:solidFill>
            <a:srgbClr val="18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236208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5577840" cy="141732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00200"/>
            <a:ext cx="5175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C9E8"/>
                </a:solidFill>
                <a:latin typeface="Consolas"/>
              </a:rPr>
              <a:t>候选选取规则（固定，与语义叙事无关）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01952"/>
            <a:ext cx="5175503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50">
                <a:solidFill>
                  <a:srgbClr val="E6EDF3"/>
                </a:solidFill>
                <a:latin typeface="Consolas"/>
              </a:rPr>
              <a:t>            # Fixed selection rule, independent of semantic narratives.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6EDF3"/>
                </a:solidFill>
                <a:latin typeface="Consolas"/>
              </a:rPr>
              <a:t>            selected = sorted(indices, key=lambda i: (-abs(float(scores[i])),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6EDF3"/>
                </a:solidFill>
                <a:latin typeface="Consolas"/>
              </a:rPr>
              <a:t>                records[i]["mail_id"]))[:15]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6EDF3"/>
                </a:solidFill>
                <a:latin typeface="Consolas"/>
              </a:rPr>
              <a:t>            groups[label] = [{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6EDF3"/>
                </a:solidFill>
                <a:latin typeface="Consolas"/>
              </a:rPr>
              <a:t>                "mail_id": records[i]["mail_id"], "true_label": int(truth[i]),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6EDF3"/>
                </a:solidFill>
                <a:latin typeface="Consolas"/>
              </a:rPr>
              <a:t>                    "prediction": int(predicted[i]),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36192"/>
            <a:ext cx="5349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样本性质  </a:t>
            </a:r>
            <a:r>
              <a:rPr sz="1250">
                <a:solidFill>
                  <a:srgbClr val="18364A"/>
                </a:solidFill>
                <a:latin typeface="Microsoft YaHei"/>
              </a:rPr>
              <a:t>共 56 个实例，按分数绝对值取前 15 个 FP/FN；是高置信度错误样本，不是随机样本，类别计数不能估计总体比例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误报主导  </a:t>
            </a:r>
            <a:r>
              <a:rPr sz="1250">
                <a:solidFill>
                  <a:srgbClr val="18364A"/>
                </a:solidFill>
                <a:latin typeface="Microsoft YaHei"/>
              </a:rPr>
              <a:t>招聘通知与商业推广词重叠（NB 13/15、LR 7/11）；也有查分通知含付费服务推广词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漏报主导  </a:t>
            </a:r>
            <a:r>
              <a:rPr sz="1250">
                <a:solidFill>
                  <a:srgbClr val="18364A"/>
                </a:solidFill>
                <a:latin typeface="Microsoft YaHei"/>
              </a:rPr>
              <a:t>故事/祝福/私人聊天包裹推广请求；12/15 个 NB 漏报可用文本 ≤30 字，LR 漏报中 6 个是 subject_only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重要提示  </a:t>
            </a:r>
            <a:r>
              <a:rPr sz="1250">
                <a:solidFill>
                  <a:srgbClr val="18364A"/>
                </a:solidFill>
                <a:latin typeface="Microsoft YaHei"/>
              </a:rPr>
              <a:t>这是内容观察，不是经反事实验证的错因；本次测试后不据此重调模型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154680"/>
          <a:ext cx="5577836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216"/>
                <a:gridCol w="984324"/>
                <a:gridCol w="787459"/>
                <a:gridCol w="787459"/>
                <a:gridCol w="721838"/>
                <a:gridCol w="787459"/>
                <a:gridCol w="853081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错误类型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错误总数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复核候选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含 HTML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编码警告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文本≤30字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NB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FP 误报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134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NB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FN 漏报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61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14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LR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FP 误报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LR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FN 漏报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29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8364A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309360" y="4800600"/>
            <a:ext cx="5349240" cy="1280160"/>
          </a:xfrm>
          <a:prstGeom prst="roundRect">
            <a:avLst>
              <a:gd name="adj" fmla="val 3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937760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altLang="zh-CN">
                <a:solidFill>
                  <a:srgbClr val="187A87"/>
                </a:solidFill>
                <a:latin typeface="Microsoft YaHei"/>
              </a:rPr>
              <a:t>脱敏说明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21208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altLang="zh-CN">
                <a:solidFill>
                  <a:srgbClr val="18364A"/>
                </a:solidFill>
                <a:latin typeface="Microsoft YaHei"/>
              </a:rPr>
              <a:t>公开概述不复制邮件原句、mail_id 或联系方式；原始语料标签保持不变，标签疑点只记为待复核。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altLang="zh-CN">
                <a:solidFill>
                  <a:srgbClr val="526372"/>
                </a:solidFill>
                <a:latin typeface="Microsoft YaHei"/>
              </a:rPr>
              <a:t>模型解释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altLang="zh-CN">
                <a:solidFill>
                  <a:srgbClr val="18364A"/>
                </a:solidFill>
                <a:latin typeface="Microsoft YaHei"/>
              </a:rPr>
              <a:t>LR 关联词：偏向两类邮件的词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25603"/>
          </a:xfrm>
          <a:prstGeom prst="rect">
            <a:avLst/>
          </a:prstGeom>
          <a:solidFill>
            <a:srgbClr val="18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236208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4846319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2752"/>
                <a:gridCol w="1483567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偏向正常邮件 (ham)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系数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学生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-3.22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工作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-2.78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研究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-1.79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学校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-1.53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问题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-1.16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老师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-1.03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23560" y="1572768"/>
          <a:ext cx="4846319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2752"/>
                <a:gridCol w="1483567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偏向垃圾邮件 (spam)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系数</a:t>
                      </a:r>
                    </a:p>
                  </a:txBody>
                  <a:tcPr marL="45720" marR="45720" marT="9144" marB="9144">
                    <a:solidFill>
                      <a:srgbClr val="1836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urltoken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+12.20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phonetoken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+6.04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免费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+4.62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邮件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+4.39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网站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+4.06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emailtoken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8364A"/>
                          </a:solidFill>
                          <a:latin typeface="Microsoft YaHei"/>
                        </a:rPr>
                        <a:t>+3.96</a:t>
                      </a:r>
                    </a:p>
                  </a:txBody>
                  <a:tcPr marL="45720" marR="45720" marT="9144" marB="9144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stage08_lr_public_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86200"/>
            <a:ext cx="4584192" cy="2148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05332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altLang="zh-CN">
                <a:solidFill>
                  <a:srgbClr val="526372"/>
                </a:solidFill>
                <a:latin typeface="Microsoft YaHei"/>
              </a:rPr>
              <a:t>预设通用词表内的 LR 系数分布（左：ham 负值；右：spam 正值）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931920"/>
            <a:ext cx="66751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高频词 ≠ 分类关键词  </a:t>
            </a:r>
            <a:r>
              <a:rPr sz="1250">
                <a:solidFill>
                  <a:srgbClr val="18364A"/>
                </a:solidFill>
                <a:latin typeface="Microsoft YaHei"/>
              </a:rPr>
              <a:t>高频是文档覆盖率（一个词出现在多少封邮件里）；LR 系数是模型在给定语料下的条件关联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占位符信号  </a:t>
            </a:r>
            <a:r>
              <a:rPr sz="1250">
                <a:solidFill>
                  <a:srgbClr val="18364A"/>
                </a:solidFill>
                <a:latin typeface="Microsoft YaHei"/>
              </a:rPr>
              <a:t>urltoken(+12.20)、phonetoken(+6.04)、emailtoken(+3.96) 权重最高——保留联系方式「出现的信号」，但不把具体联系方式送进特征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公开范围  </a:t>
            </a:r>
            <a:r>
              <a:rPr sz="1250">
                <a:solidFill>
                  <a:srgbClr val="18364A"/>
                </a:solidFill>
                <a:latin typeface="Microsoft YaHei"/>
              </a:rPr>
              <a:t>只展示预先固定的 53 词通用表，不是完整词表的全局排名，也不表示因果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altLang="zh-CN">
                <a:solidFill>
                  <a:srgbClr val="526372"/>
                </a:solidFill>
                <a:latin typeface="Microsoft YaHei"/>
              </a:rPr>
              <a:t>可复现性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altLang="zh-CN">
                <a:solidFill>
                  <a:srgbClr val="18364A"/>
                </a:solidFill>
                <a:latin typeface="Microsoft YaHei"/>
              </a:rPr>
              <a:t>环境、配置与运行顺序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25603"/>
          </a:xfrm>
          <a:prstGeom prst="rect">
            <a:avLst/>
          </a:prstGeom>
          <a:solidFill>
            <a:srgbClr val="18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236208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5577840" cy="228600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00200"/>
            <a:ext cx="51755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C9E8"/>
                </a:solidFill>
                <a:latin typeface="Consolas"/>
              </a:rPr>
              <a:t>Windows 环境建立（64 位 Python 3.12）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01952"/>
            <a:ext cx="5175503" cy="1737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git clone https://github.com/25121596/Python-teamwork.git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cd Python-teamwork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py -3.12 -m venv .venv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.\.venv\Scripts\python.exe -m pip install -r requirements.txt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Copy-Item config.example.json config.local.json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.\.venv\Scripts\python.exe scripts\check_environment.py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81328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00200"/>
            <a:ext cx="49469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C9E8"/>
                </a:solidFill>
                <a:latin typeface="Consolas"/>
              </a:rPr>
              <a:t>完整运行顺序（生成脚本 + 独立核验）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46903" cy="2194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# 2 索引  3 清洗  4 划分  5 特征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python scripts\audit_index.py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python scripts\clean_mail.py --scope full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python scripts\split_data.py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python scripts\build_features.py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# 6 模型  7 对照  8 最终测试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python scripts\train_models.py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python scripts\compare_cleaning.py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python scripts\evaluate_final.py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# 独立核验 + 全量回归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python scripts\check_final_results.py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E6EDF3"/>
                </a:solidFill>
                <a:latin typeface="Consolas"/>
              </a:rPr>
              <a:t>python -m unittest discover -s tests -v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14800"/>
            <a:ext cx="56692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187A87"/>
                </a:solidFill>
                <a:latin typeface="Microsoft YaHei"/>
              </a:rPr>
              <a:t>▪ 数据位置  </a:t>
            </a:r>
            <a:r>
              <a:rPr sz="1200">
                <a:solidFill>
                  <a:srgbClr val="18364A"/>
                </a:solidFill>
                <a:latin typeface="Microsoft YaHei"/>
              </a:rPr>
              <a:t>原始语料必须在仓库外，通过 config.local.json 引用；该文件被 Git 忽略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187A87"/>
                </a:solidFill>
                <a:latin typeface="Microsoft YaHei"/>
              </a:rPr>
              <a:t>▪ 换行符陷阱  </a:t>
            </a:r>
            <a:r>
              <a:rPr sz="1200">
                <a:solidFill>
                  <a:srgbClr val="18364A"/>
                </a:solidFill>
                <a:latin typeface="Microsoft YaHei"/>
              </a:rPr>
              <a:t>公开 audit/metrics 文件用 .gitattributes 固定 LF，Windows 检出时 CRLF 转换会让锁内 SHA256 校验失败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187A87"/>
                </a:solidFill>
                <a:latin typeface="Microsoft YaHei"/>
              </a:rPr>
              <a:t>▪ 跨平台差异  </a:t>
            </a:r>
            <a:r>
              <a:rPr sz="1200">
                <a:solidFill>
                  <a:srgbClr val="18364A"/>
                </a:solidFill>
                <a:latin typeface="Microsoft YaHei"/>
              </a:rPr>
              <a:t>词表截断与 IDF 指纹在 Linux/Windows 上不同，两个非最优 NB 配置各差一封误报，最佳 NB/LR 指标不变；未为凑一致改参数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187A87"/>
                </a:solidFill>
                <a:latin typeface="Microsoft YaHei"/>
              </a:rPr>
              <a:t>▪ 回归测试  </a:t>
            </a:r>
            <a:r>
              <a:rPr sz="1200">
                <a:solidFill>
                  <a:srgbClr val="18364A"/>
                </a:solidFill>
                <a:latin typeface="Microsoft YaHei"/>
              </a:rPr>
              <a:t>128 项全部通过，0 失败 0 跳过——但这是程序逻辑验证，与真实实验成绩是两个独立证据层次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4434840"/>
            <a:ext cx="5120640" cy="1417320"/>
          </a:xfrm>
          <a:prstGeom prst="roundRect">
            <a:avLst>
              <a:gd name="adj" fmla="val 3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457200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altLang="zh-CN">
                <a:solidFill>
                  <a:srgbClr val="187A87"/>
                </a:solidFill>
                <a:latin typeface="Microsoft YaHei"/>
              </a:rPr>
              <a:t>Git 协作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84632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altLang="zh-CN">
                <a:solidFill>
                  <a:srgbClr val="18364A"/>
                </a:solidFill>
                <a:latin typeface="Microsoft YaHei"/>
              </a:rPr>
              <a:t>每个可验收阶段即提交代码、阶段 Markdown、进度与清单并推送；历史保持真实，不伪造成员贡献，不为凑提交数量制造无意义提交。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altLang="zh-CN">
                <a:solidFill>
                  <a:srgbClr val="526372"/>
                </a:solidFill>
                <a:latin typeface="Microsoft YaHe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altLang="zh-CN">
                <a:solidFill>
                  <a:srgbClr val="18364A"/>
                </a:solidFill>
                <a:latin typeface="Microsoft YaHei"/>
              </a:rPr>
              <a:t>适用范围与局限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25603"/>
          </a:xfrm>
          <a:prstGeom prst="rect">
            <a:avLst/>
          </a:prstGeom>
          <a:solidFill>
            <a:srgbClr val="18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236208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altLang="zh-CN">
                <a:solidFill>
                  <a:srgbClr val="526372"/>
                </a:solidFill>
                <a:latin typeface="Microsoft YaHe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5486400" cy="2240280"/>
          </a:xfrm>
          <a:prstGeom prst="roundRect">
            <a:avLst>
              <a:gd name="adj" fmla="val 3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altLang="zh-CN">
                <a:solidFill>
                  <a:srgbClr val="187A87"/>
                </a:solidFill>
                <a:latin typeface="Microsoft YaHei"/>
              </a:rPr>
              <a:t>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50292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LR 优于 NB  </a:t>
            </a:r>
            <a:r>
              <a:rPr sz="1250">
                <a:solidFill>
                  <a:srgbClr val="18364A"/>
                </a:solidFill>
                <a:latin typeface="Microsoft YaHei"/>
              </a:rPr>
              <a:t>准确率 99.22% vs 96.17%，误报 11 vs 134，漏报 29 vs 61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两类错误同时改善  </a:t>
            </a:r>
            <a:r>
              <a:rPr sz="1250">
                <a:solidFill>
                  <a:srgbClr val="18364A"/>
                </a:solidFill>
                <a:latin typeface="Microsoft YaHei"/>
              </a:rPr>
              <a:t>不是用误报换漏报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防泄漏有效  </a:t>
            </a:r>
            <a:r>
              <a:rPr sz="1250">
                <a:solidFill>
                  <a:srgbClr val="18364A"/>
                </a:solidFill>
                <a:latin typeface="Microsoft YaHei"/>
              </a:rPr>
              <a:t>分组整组划分 + 训练侧独拟合 + 指纹链 + 不可变模型锁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落地建议  </a:t>
            </a:r>
            <a:r>
              <a:rPr sz="1250">
                <a:solidFill>
                  <a:srgbClr val="18364A"/>
                </a:solidFill>
                <a:latin typeface="Microsoft YaHei"/>
              </a:rPr>
              <a:t>误拦邮件进可恢复垃圾箱或人工复核队列，不直接删除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486400" cy="2240280"/>
          </a:xfrm>
          <a:prstGeom prst="roundRect">
            <a:avLst>
              <a:gd name="adj" fmla="val 3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altLang="zh-CN">
                <a:solidFill>
                  <a:srgbClr val="B43F3F"/>
                </a:solidFill>
                <a:latin typeface="Microsoft YaHei"/>
              </a:rPr>
              <a:t>局限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93392"/>
            <a:ext cx="50292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历史语料  </a:t>
            </a:r>
            <a:r>
              <a:rPr sz="1250">
                <a:solidFill>
                  <a:srgbClr val="18364A"/>
                </a:solidFill>
                <a:latin typeface="Microsoft YaHei"/>
              </a:rPr>
              <a:t>TREC 2006 与现代邮箱差异明显，99.22% 不代表当代真实过滤性能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近重复残留  </a:t>
            </a:r>
            <a:r>
              <a:rPr sz="1250">
                <a:solidFill>
                  <a:srgbClr val="18364A"/>
                </a:solidFill>
                <a:latin typeface="Microsoft YaHei"/>
              </a:rPr>
              <a:t>精确去重无法识别所有近重复广告模板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类别比例已变  </a:t>
            </a:r>
            <a:r>
              <a:rPr sz="1250">
                <a:solidFill>
                  <a:srgbClr val="18364A"/>
                </a:solidFill>
                <a:latin typeface="Microsoft YaHei"/>
              </a:rPr>
              <a:t>去重后 spam 占比 66.32% → 37.00%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未做 OCR  </a:t>
            </a:r>
            <a:r>
              <a:rPr sz="1250">
                <a:solidFill>
                  <a:srgbClr val="18364A"/>
                </a:solidFill>
                <a:latin typeface="Microsoft YaHei"/>
              </a:rPr>
              <a:t>HTML 中的图片内容完全不参与特征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87A87"/>
                </a:solidFill>
                <a:latin typeface="Microsoft YaHei"/>
              </a:rPr>
              <a:t>▪ 人工签认待办  </a:t>
            </a:r>
            <a:r>
              <a:rPr sz="1250">
                <a:solidFill>
                  <a:srgbClr val="18364A"/>
                </a:solidFill>
                <a:latin typeface="Microsoft YaHei"/>
              </a:rPr>
              <a:t>56 个错分实例为 AI 辅助复核，学生人工确认仍待完成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31920"/>
            <a:ext cx="11155680" cy="914400"/>
          </a:xfrm>
          <a:prstGeom prst="roundRect">
            <a:avLst>
              <a:gd name="adj" fmla="val 3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698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altLang="zh-CN">
                <a:solidFill>
                  <a:srgbClr val="187A87"/>
                </a:solidFill>
                <a:latin typeface="Microsoft YaHei"/>
              </a:rPr>
              <a:t>证据入口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70832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8364A"/>
                </a:solidFill>
                <a:latin typeface="Consolas"/>
              </a:rPr>
              <a:t>artifacts/metrics/final_evaluation.json · stage08_test.csv · cleaning_ablation.json · error_analysis.json    |    artifacts/audit/eda_summary.json · split_summary.json · cleaning_summary.json    |    docs/stages/ 各阶段记录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29200"/>
            <a:ext cx="11155680" cy="1005840"/>
          </a:xfrm>
          <a:prstGeom prst="roundRect">
            <a:avLst>
              <a:gd name="adj" fmla="val 3000"/>
            </a:avLst>
          </a:prstGeom>
          <a:solidFill>
            <a:srgbClr val="183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230368"/>
            <a:ext cx="10698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onsolas"/>
              </a:rPr>
              <a:t>仓库地址：https://github.com/25121596/Python-teamwork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9612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altLang="zh-CN">
                <a:solidFill>
                  <a:srgbClr val="C9D6E0"/>
                </a:solidFill>
                <a:latin typeface="Microsoft YaHei"/>
              </a:rPr>
              <a:t>本次所有数字均直接读取仓库 artifacts/ 下的聚合产物；代码片段取自跟踪的源文件，可逐项复核。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